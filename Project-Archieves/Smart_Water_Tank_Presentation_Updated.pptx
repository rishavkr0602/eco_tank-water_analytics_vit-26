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3"/>
    <p:sldId id="273" r:id="rId24"/>
    <p:sldId id="274" r:id="rId25"/>
    <p:sldId id="275" r:id="rId26"/>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5"/>
                </a:solidFill>
                <a:latin typeface="Calibri"/>
              </a:defRPr>
            </a:pPr>
            <a:r>
              <a:rPr sz="1300" b="0" i="0" u="none" strike="noStrike">
                <a:solidFill>
                  <a:srgbClr val="1B2A35"/>
                </a:solidFill>
                <a:latin typeface="Calibri"/>
              </a:rPr>
              <a:t>Level (%) by measured distance</a:t>
            </a:r>
          </a:p>
        </c:rich>
      </c:tx>
      <c:layout/>
      <c:overlay val="0"/>
    </c:title>
    <c:autoTitleDeleted val="0"/>
    <c:plotArea>
      <c:layout/>
      <c:barChart>
        <c:barDir val="col"/>
        <c:grouping val="clustered"/>
        <c:varyColors val="0"/>
        <c:ser>
          <c:idx val="0"/>
          <c:order val="0"/>
          <c:tx>
            <c:strRef>
              <c:f>Sheet1!$B$1</c:f>
              <c:strCache>
                <c:ptCount val="1"/>
                <c:pt idx="0">
                  <c:v>Water level (%)</c:v>
                </c:pt>
              </c:strCache>
            </c:strRef>
          </c:tx>
          <c:spPr>
            <a:solidFill>
              <a:srgbClr val="1789A8"/>
            </a:solidFill>
            <a:effectLst/>
          </c:spPr>
          <c:invertIfNegative val="0"/>
          <c:dLbls>
            <c:numFmt formatCode="#,##0" sourceLinked="0"/>
            <c:txPr>
              <a:bodyPr/>
              <a:lstStyle/>
              <a:p>
                <a:pPr>
                  <a:defRPr b="0" i="0" strike="noStrike" sz="1200" u="none">
                    <a:solidFill>
                      <a:srgbClr val="1B2A35"/>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12 cm</c:v>
                  </c:pt>
                  <c:pt idx="1">
                    <c:v>10.5 cm</c:v>
                  </c:pt>
                  <c:pt idx="2">
                    <c:v>7.5 cm</c:v>
                  </c:pt>
                  <c:pt idx="3">
                    <c:v>3 cm</c:v>
                  </c:pt>
                  <c:pt idx="4">
                    <c:v>1.5 cm</c:v>
                  </c:pt>
                </c:lvl>
              </c:multiLvlStrCache>
            </c:multiLvlStrRef>
          </c:cat>
          <c:val>
            <c:numRef>
              <c:f>Sheet1!$B$2:$B$6</c:f>
              <c:numCache>
                <c:formatCode>General</c:formatCode>
                <c:ptCount val="5"/>
                <c:pt idx="0">
                  <c:v>20</c:v>
                </c:pt>
                <c:pt idx="1">
                  <c:v>30</c:v>
                </c:pt>
                <c:pt idx="2">
                  <c:v>50</c:v>
                </c:pt>
                <c:pt idx="3">
                  <c:v>80</c:v>
                </c:pt>
                <c:pt idx="4">
                  <c:v>90</c:v>
                </c:pt>
              </c:numCache>
            </c:numRef>
          </c:val>
        </c:ser>
        <c:dLbls>
          <c:numFmt formatCode="#,##0" sourceLinked="0"/>
          <c:txPr>
            <a:bodyPr/>
            <a:lstStyle/>
            <a:p>
              <a:pPr>
                <a:defRPr b="0" i="0" strike="noStrike" sz="1200" u="none">
                  <a:solidFill>
                    <a:srgbClr val="1B2A3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5"/>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3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guide and project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manual tank handling wastes water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Water Tank Monitoring and Management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Circuit diagram. Includes ESP32, HC-SR04, YF-402, TDS, I2C LCD, relay + pump, buzzer, common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connect per circuit, upload via Arduino IDE, Serial Monitor at 115200, verify ultrasonic distances, compare level to tank, pass water through flow sensor, check TDS, test relay with pump disconnected, verify low/full logic, check LCD and buzzer, connect pump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6583680" y="-1097280"/>
            <a:ext cx="4206240" cy="4206240"/>
          </a:xfrm>
          <a:prstGeom prst="ellipse">
            <a:avLst/>
          </a:prstGeom>
          <a:solidFill>
            <a:srgbClr val="1789A8">
              <a:alpha val="45000"/>
            </a:srgbClr>
          </a:solidFill>
          <a:ln w="12700">
            <a:solidFill>
              <a:srgbClr val="1789A8">
                <a:alpha val="0"/>
              </a:srgbClr>
            </a:solidFill>
            <a:prstDash val="solid"/>
          </a:ln>
        </p:spPr>
      </p:sp>
      <p:sp>
        <p:nvSpPr>
          <p:cNvPr id="3" name="Shape 1"/>
          <p:cNvSpPr/>
          <p:nvPr/>
        </p:nvSpPr>
        <p:spPr>
          <a:xfrm>
            <a:off x="7589520" y="2011680"/>
            <a:ext cx="2560320" cy="2560320"/>
          </a:xfrm>
          <a:prstGeom prst="ellipse">
            <a:avLst/>
          </a:prstGeom>
          <a:solidFill>
            <a:srgbClr val="CDEBF3">
              <a:alpha val="20000"/>
            </a:srgbClr>
          </a:solidFill>
          <a:ln w="12700">
            <a:solidFill>
              <a:srgbClr val="CDEBF3">
                <a:alpha val="0"/>
              </a:srgbClr>
            </a:solidFill>
            <a:prstDash val="solid"/>
          </a:ln>
        </p:spPr>
      </p:sp>
      <p:sp>
        <p:nvSpPr>
          <p:cNvPr id="4" name="Text 2"/>
          <p:cNvSpPr txBox="1"/>
          <p:nvPr/>
        </p:nvSpPr>
        <p:spPr>
          <a:xfrm>
            <a:off x="548640" y="640080"/>
            <a:ext cx="6400800" cy="274320"/>
          </a:xfrm>
          <a:prstGeom prst="rect">
            <a:avLst/>
          </a:prstGeom>
          <a:noFill/>
          <a:ln/>
        </p:spPr>
        <p:txBody>
          <a:bodyPr wrap="square" lIns="0" tIns="0" rIns="0" bIns="0" rtlCol="0" anchor="t"/>
          <a:lstStyle/>
          <a:p>
            <a:pPr indent="0" marL="0">
              <a:buNone/>
            </a:pPr>
            <a:r>
              <a:rPr lang="en-US" sz="1200" b="1" spc="200" kern="0" dirty="0">
                <a:solidFill>
                  <a:srgbClr val="F2A541"/>
                </a:solidFill>
                <a:latin typeface="Calibri" pitchFamily="34" charset="0"/>
                <a:ea typeface="Calibri" pitchFamily="34" charset="-122"/>
                <a:cs typeface="Calibri" pitchFamily="34" charset="-120"/>
              </a:rPr>
              <a:t>PROJECT REPORT  |  IoT, EMBEDDED SYSTEMS &amp; WATER CONSERVATION</a:t>
            </a:r>
            <a:endParaRPr lang="en-US" sz="1200" dirty="0"/>
          </a:p>
        </p:txBody>
      </p:sp>
      <p:sp>
        <p:nvSpPr>
          <p:cNvPr id="5" name="Text 3"/>
          <p:cNvSpPr txBox="1"/>
          <p:nvPr/>
        </p:nvSpPr>
        <p:spPr>
          <a:xfrm>
            <a:off x="548640" y="1097280"/>
            <a:ext cx="658368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IoT-Based Smart Water Tank Monitoring and Management System</a:t>
            </a:r>
            <a:endParaRPr lang="en-US" sz="3200" dirty="0"/>
          </a:p>
        </p:txBody>
      </p:sp>
      <p:sp>
        <p:nvSpPr>
          <p:cNvPr id="6" name="Text 4"/>
          <p:cNvSpPr txBox="1"/>
          <p:nvPr/>
        </p:nvSpPr>
        <p:spPr>
          <a:xfrm>
            <a:off x="548640" y="2743200"/>
            <a:ext cx="6583680" cy="365760"/>
          </a:xfrm>
          <a:prstGeom prst="rect">
            <a:avLst/>
          </a:prstGeom>
          <a:noFill/>
          <a:ln/>
        </p:spPr>
        <p:txBody>
          <a:bodyPr wrap="square" lIns="0" tIns="0" rIns="0" bIns="0" rtlCol="0" anchor="t"/>
          <a:lstStyle/>
          <a:p>
            <a:pPr indent="0" marL="0">
              <a:buNone/>
            </a:pPr>
            <a:r>
              <a:rPr lang="en-US" sz="1600" dirty="0">
                <a:solidFill>
                  <a:srgbClr val="CDEBF3"/>
                </a:solidFill>
                <a:latin typeface="Calibri" pitchFamily="34" charset="0"/>
                <a:ea typeface="Calibri" pitchFamily="34" charset="-122"/>
                <a:cs typeface="Calibri" pitchFamily="34" charset="-120"/>
              </a:rPr>
              <a:t>ESP32  •  Ultrasonic level  •  Flow  •  TDS  •  Automatic pump control</a:t>
            </a:r>
            <a:endParaRPr lang="en-US" sz="1600" dirty="0"/>
          </a:p>
        </p:txBody>
      </p:sp>
      <p:sp>
        <p:nvSpPr>
          <p:cNvPr id="7" name="Text 5"/>
          <p:cNvSpPr txBox="1"/>
          <p:nvPr/>
        </p:nvSpPr>
        <p:spPr>
          <a:xfrm>
            <a:off x="548640" y="3429000"/>
            <a:ext cx="3657600" cy="822960"/>
          </a:xfrm>
          <a:prstGeom prst="rect">
            <a:avLst/>
          </a:prstGeom>
          <a:noFill/>
          <a:ln/>
        </p:spPr>
        <p:txBody>
          <a:bodyPr wrap="square" lIns="0" tIns="0" rIns="0" bIns="0" rtlCol="0" anchor="t"/>
          <a:lstStyle/>
          <a:p>
            <a:pPr indent="0" marL="0">
              <a:spcAft>
                <a:spcPts val="200"/>
              </a:spcAft>
              <a:buNone/>
            </a:pPr>
            <a:r>
              <a:rPr lang="en-US" sz="1400" dirty="0">
                <a:solidFill>
                  <a:srgbClr val="FFFFFF"/>
                </a:solidFill>
                <a:latin typeface="Calibri" pitchFamily="34" charset="0"/>
                <a:ea typeface="Calibri" pitchFamily="34" charset="-122"/>
                <a:cs typeface="Calibri" pitchFamily="34" charset="-120"/>
              </a:rPr>
              <a:t>Prince Mandal (24BCE1606)</a:t>
            </a:r>
            <a:endParaRPr lang="en-US" sz="1400" dirty="0"/>
          </a:p>
          <a:p>
            <a:pPr indent="0" marL="0">
              <a:spcAft>
                <a:spcPts val="200"/>
              </a:spcAft>
              <a:buNone/>
            </a:pPr>
            <a:r>
              <a:rPr lang="en-US" sz="1400" dirty="0">
                <a:solidFill>
                  <a:srgbClr val="FFFFFF"/>
                </a:solidFill>
                <a:latin typeface="Calibri" pitchFamily="34" charset="0"/>
                <a:ea typeface="Calibri" pitchFamily="34" charset="-122"/>
                <a:cs typeface="Calibri" pitchFamily="34" charset="-120"/>
              </a:rPr>
              <a:t>Vineet Verma (24BCE1611)</a:t>
            </a:r>
            <a:endParaRPr lang="en-US" sz="1400" dirty="0"/>
          </a:p>
          <a:p>
            <a:pPr indent="0" marL="0">
              <a:spcAft>
                <a:spcPts val="200"/>
              </a:spcAft>
              <a:buNone/>
            </a:pPr>
            <a:r>
              <a:rPr lang="en-US" sz="1400" dirty="0">
                <a:solidFill>
                  <a:srgbClr val="FFFFFF"/>
                </a:solidFill>
                <a:latin typeface="Calibri" pitchFamily="34" charset="0"/>
                <a:ea typeface="Calibri" pitchFamily="34" charset="-122"/>
                <a:cs typeface="Calibri" pitchFamily="34" charset="-120"/>
              </a:rPr>
              <a:t>Harshika Tripathi (24BCE1627)</a:t>
            </a:r>
            <a:endParaRPr lang="en-US" sz="1400" dirty="0"/>
          </a:p>
        </p:txBody>
      </p:sp>
      <p:sp>
        <p:nvSpPr>
          <p:cNvPr id="8" name="Text 6"/>
          <p:cNvSpPr txBox="1"/>
          <p:nvPr/>
        </p:nvSpPr>
        <p:spPr>
          <a:xfrm>
            <a:off x="4206240" y="3429000"/>
            <a:ext cx="4206240" cy="822960"/>
          </a:xfrm>
          <a:prstGeom prst="rect">
            <a:avLst/>
          </a:prstGeom>
          <a:noFill/>
          <a:ln/>
        </p:spPr>
        <p:txBody>
          <a:bodyPr wrap="square" lIns="0" tIns="0" rIns="0" bIns="0" rtlCol="0" anchor="t"/>
          <a:lstStyle/>
          <a:p>
            <a:pPr indent="0" marL="0">
              <a:spcAft>
                <a:spcPts val="200"/>
              </a:spcAft>
              <a:buNone/>
            </a:pPr>
            <a:r>
              <a:rPr lang="en-US" sz="1400" dirty="0">
                <a:solidFill>
                  <a:srgbClr val="CDEBF3"/>
                </a:solidFill>
                <a:latin typeface="Calibri" pitchFamily="34" charset="0"/>
                <a:ea typeface="Calibri" pitchFamily="34" charset="-122"/>
                <a:cs typeface="Calibri" pitchFamily="34" charset="-120"/>
              </a:rPr>
              <a:t>SCOPE, Vellore Institute of Technology</a:t>
            </a:r>
            <a:endParaRPr lang="en-US" sz="1400" dirty="0"/>
          </a:p>
          <a:p>
            <a:pPr indent="0" marL="0">
              <a:spcAft>
                <a:spcPts val="200"/>
              </a:spcAft>
              <a:buNone/>
            </a:pPr>
            <a:r>
              <a:rPr lang="en-US" sz="1400" dirty="0">
                <a:solidFill>
                  <a:srgbClr val="CDEBF3"/>
                </a:solidFill>
                <a:latin typeface="Calibri" pitchFamily="34" charset="0"/>
                <a:ea typeface="Calibri" pitchFamily="34" charset="-122"/>
                <a:cs typeface="Calibri" pitchFamily="34" charset="-120"/>
              </a:rPr>
              <a:t>Submitted to: Mr. M Manigandan</a:t>
            </a:r>
            <a:endParaRPr lang="en-US" sz="1400" dirty="0"/>
          </a:p>
          <a:p>
            <a:pPr indent="0" marL="0">
              <a:spcAft>
                <a:spcPts val="200"/>
              </a:spcAft>
              <a:buNone/>
            </a:pPr>
            <a:r>
              <a:rPr lang="en-US" sz="1400" dirty="0">
                <a:solidFill>
                  <a:srgbClr val="CDEBF3"/>
                </a:solidFill>
                <a:latin typeface="Calibri" pitchFamily="34" charset="0"/>
                <a:ea typeface="Calibri" pitchFamily="34" charset="-122"/>
                <a:cs typeface="Calibri" pitchFamily="34" charset="-120"/>
              </a:rPr>
              <a:t>Academic Year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Problem Statement</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01  PROBLEM</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2</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97280"/>
            <a:ext cx="5120640" cy="1051560"/>
          </a:xfrm>
          <a:prstGeom prst="roundRect">
            <a:avLst>
              <a:gd name="adj" fmla="val 6957"/>
            </a:avLst>
          </a:prstGeom>
          <a:solidFill>
            <a:srgbClr val="EEF7FA"/>
          </a:solidFill>
          <a:ln w="12700">
            <a:solidFill>
              <a:srgbClr val="EEF7FA"/>
            </a:solidFill>
            <a:prstDash val="solid"/>
          </a:ln>
        </p:spPr>
      </p:sp>
      <p:sp>
        <p:nvSpPr>
          <p:cNvPr id="7" name="Shape 5"/>
          <p:cNvSpPr/>
          <p:nvPr/>
        </p:nvSpPr>
        <p:spPr>
          <a:xfrm>
            <a:off x="640080" y="1371600"/>
            <a:ext cx="502920" cy="502920"/>
          </a:xfrm>
          <a:prstGeom prst="ellipse">
            <a:avLst/>
          </a:prstGeom>
          <a:solidFill>
            <a:srgbClr val="1789A8"/>
          </a:solidFill>
          <a:ln w="12700">
            <a:solidFill>
              <a:srgbClr val="1789A8"/>
            </a:solidFill>
            <a:prstDash val="solid"/>
          </a:ln>
        </p:spPr>
      </p:sp>
      <p:sp>
        <p:nvSpPr>
          <p:cNvPr id="8" name="Text 6"/>
          <p:cNvSpPr txBox="1"/>
          <p:nvPr/>
        </p:nvSpPr>
        <p:spPr>
          <a:xfrm>
            <a:off x="640080" y="13716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1325880" y="1188720"/>
            <a:ext cx="4114800" cy="27432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Manual operation</a:t>
            </a:r>
            <a:endParaRPr lang="en-US" sz="1600" dirty="0"/>
          </a:p>
        </p:txBody>
      </p:sp>
      <p:sp>
        <p:nvSpPr>
          <p:cNvPr id="10" name="Text 8"/>
          <p:cNvSpPr txBox="1"/>
          <p:nvPr/>
        </p:nvSpPr>
        <p:spPr>
          <a:xfrm>
            <a:off x="1325880" y="1463040"/>
            <a:ext cx="4114800" cy="64008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Conventional tanks need manual monitoring and pump control, causing overflow, shortages and wasted electricity.</a:t>
            </a:r>
            <a:endParaRPr lang="en-US" sz="1300" dirty="0"/>
          </a:p>
        </p:txBody>
      </p:sp>
      <p:sp>
        <p:nvSpPr>
          <p:cNvPr id="11" name="Shape 9"/>
          <p:cNvSpPr/>
          <p:nvPr/>
        </p:nvSpPr>
        <p:spPr>
          <a:xfrm>
            <a:off x="457200" y="2286000"/>
            <a:ext cx="5120640" cy="1051560"/>
          </a:xfrm>
          <a:prstGeom prst="roundRect">
            <a:avLst>
              <a:gd name="adj" fmla="val 6957"/>
            </a:avLst>
          </a:prstGeom>
          <a:solidFill>
            <a:srgbClr val="EEF7FA"/>
          </a:solidFill>
          <a:ln w="12700">
            <a:solidFill>
              <a:srgbClr val="EEF7FA"/>
            </a:solidFill>
            <a:prstDash val="solid"/>
          </a:ln>
        </p:spPr>
      </p:sp>
      <p:sp>
        <p:nvSpPr>
          <p:cNvPr id="12" name="Shape 10"/>
          <p:cNvSpPr/>
          <p:nvPr/>
        </p:nvSpPr>
        <p:spPr>
          <a:xfrm>
            <a:off x="640080" y="2560320"/>
            <a:ext cx="502920" cy="502920"/>
          </a:xfrm>
          <a:prstGeom prst="ellipse">
            <a:avLst/>
          </a:prstGeom>
          <a:solidFill>
            <a:srgbClr val="1789A8"/>
          </a:solidFill>
          <a:ln w="12700">
            <a:solidFill>
              <a:srgbClr val="1789A8"/>
            </a:solidFill>
            <a:prstDash val="solid"/>
          </a:ln>
        </p:spPr>
      </p:sp>
      <p:sp>
        <p:nvSpPr>
          <p:cNvPr id="13" name="Text 11"/>
          <p:cNvSpPr txBox="1"/>
          <p:nvPr/>
        </p:nvSpPr>
        <p:spPr>
          <a:xfrm>
            <a:off x="640080"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1325880" y="2377440"/>
            <a:ext cx="4114800" cy="27432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No real-time data</a:t>
            </a:r>
            <a:endParaRPr lang="en-US" sz="1600" dirty="0"/>
          </a:p>
        </p:txBody>
      </p:sp>
      <p:sp>
        <p:nvSpPr>
          <p:cNvPr id="15" name="Text 13"/>
          <p:cNvSpPr txBox="1"/>
          <p:nvPr/>
        </p:nvSpPr>
        <p:spPr>
          <a:xfrm>
            <a:off x="1325880" y="2651760"/>
            <a:ext cx="4114800" cy="64008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Users cannot see water level, flow through the pipeline, or dissolved solids (TDS) in the water.</a:t>
            </a:r>
            <a:endParaRPr lang="en-US" sz="1300" dirty="0"/>
          </a:p>
        </p:txBody>
      </p:sp>
      <p:sp>
        <p:nvSpPr>
          <p:cNvPr id="16" name="Shape 14"/>
          <p:cNvSpPr/>
          <p:nvPr/>
        </p:nvSpPr>
        <p:spPr>
          <a:xfrm>
            <a:off x="457200" y="3474720"/>
            <a:ext cx="5120640" cy="1051560"/>
          </a:xfrm>
          <a:prstGeom prst="roundRect">
            <a:avLst>
              <a:gd name="adj" fmla="val 6957"/>
            </a:avLst>
          </a:prstGeom>
          <a:solidFill>
            <a:srgbClr val="CDEBF3"/>
          </a:solidFill>
          <a:ln w="12700">
            <a:solidFill>
              <a:srgbClr val="CDEBF3"/>
            </a:solidFill>
            <a:prstDash val="solid"/>
          </a:ln>
        </p:spPr>
      </p:sp>
      <p:sp>
        <p:nvSpPr>
          <p:cNvPr id="17" name="Shape 15"/>
          <p:cNvSpPr/>
          <p:nvPr/>
        </p:nvSpPr>
        <p:spPr>
          <a:xfrm>
            <a:off x="640080" y="3749040"/>
            <a:ext cx="502920" cy="502920"/>
          </a:xfrm>
          <a:prstGeom prst="ellipse">
            <a:avLst/>
          </a:prstGeom>
          <a:solidFill>
            <a:srgbClr val="0B3C5D"/>
          </a:solidFill>
          <a:ln w="12700">
            <a:solidFill>
              <a:srgbClr val="0B3C5D"/>
            </a:solidFill>
            <a:prstDash val="solid"/>
          </a:ln>
        </p:spPr>
      </p:sp>
      <p:sp>
        <p:nvSpPr>
          <p:cNvPr id="18" name="Text 16"/>
          <p:cNvSpPr txBox="1"/>
          <p:nvPr/>
        </p:nvSpPr>
        <p:spPr>
          <a:xfrm>
            <a:off x="640080" y="3749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1325880" y="3566160"/>
            <a:ext cx="4114800" cy="27432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Our solution</a:t>
            </a:r>
            <a:endParaRPr lang="en-US" sz="1600" dirty="0"/>
          </a:p>
        </p:txBody>
      </p:sp>
      <p:sp>
        <p:nvSpPr>
          <p:cNvPr id="20" name="Text 18"/>
          <p:cNvSpPr txBox="1"/>
          <p:nvPr/>
        </p:nvSpPr>
        <p:spPr>
          <a:xfrm>
            <a:off x="1325880" y="3840480"/>
            <a:ext cx="4114800" cy="64008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An ESP32-based system that senses level, flow and TDS, switches the pump automatically, and shows readings on an LCD with buzzer alerts.</a:t>
            </a:r>
            <a:endParaRPr lang="en-US" sz="1300" dirty="0"/>
          </a:p>
        </p:txBody>
      </p:sp>
      <p:sp>
        <p:nvSpPr>
          <p:cNvPr id="21" name="Shape 19"/>
          <p:cNvSpPr/>
          <p:nvPr/>
        </p:nvSpPr>
        <p:spPr>
          <a:xfrm>
            <a:off x="5852160" y="1097280"/>
            <a:ext cx="2834640" cy="3429000"/>
          </a:xfrm>
          <a:prstGeom prst="roundRect">
            <a:avLst>
              <a:gd name="adj" fmla="val 2581"/>
            </a:avLst>
          </a:prstGeom>
          <a:solidFill>
            <a:srgbClr val="0B3C5D"/>
          </a:solidFill>
          <a:ln w="12700">
            <a:solidFill>
              <a:srgbClr val="0B3C5D"/>
            </a:solidFill>
            <a:prstDash val="solid"/>
          </a:ln>
        </p:spPr>
      </p:sp>
      <p:sp>
        <p:nvSpPr>
          <p:cNvPr id="22" name="Text 20"/>
          <p:cNvSpPr txBox="1"/>
          <p:nvPr/>
        </p:nvSpPr>
        <p:spPr>
          <a:xfrm>
            <a:off x="6080760" y="1280160"/>
            <a:ext cx="2377440" cy="274320"/>
          </a:xfrm>
          <a:prstGeom prst="rect">
            <a:avLst/>
          </a:prstGeom>
          <a:noFill/>
          <a:ln/>
        </p:spPr>
        <p:txBody>
          <a:bodyPr wrap="square" lIns="0" tIns="0" rIns="0" bIns="0" rtlCol="0" anchor="t"/>
          <a:lstStyle/>
          <a:p>
            <a:pPr indent="0" marL="0">
              <a:buNone/>
            </a:pPr>
            <a:r>
              <a:rPr lang="en-US" sz="1400" b="1" dirty="0">
                <a:solidFill>
                  <a:srgbClr val="F2A541"/>
                </a:solidFill>
                <a:latin typeface="Calibri" pitchFamily="34" charset="0"/>
                <a:ea typeface="Calibri" pitchFamily="34" charset="-122"/>
                <a:cs typeface="Calibri" pitchFamily="34" charset="-120"/>
              </a:rPr>
              <a:t>Goal</a:t>
            </a:r>
            <a:endParaRPr lang="en-US" sz="1400" dirty="0"/>
          </a:p>
        </p:txBody>
      </p:sp>
      <p:sp>
        <p:nvSpPr>
          <p:cNvPr id="23" name="Text 21"/>
          <p:cNvSpPr txBox="1"/>
          <p:nvPr/>
        </p:nvSpPr>
        <p:spPr>
          <a:xfrm>
            <a:off x="6080760" y="1645920"/>
            <a:ext cx="2377440" cy="146304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Reduce manual intervention, improve water management and support efficient use of water resources.</a:t>
            </a:r>
            <a:endParaRPr lang="en-US" sz="1800" dirty="0"/>
          </a:p>
        </p:txBody>
      </p:sp>
      <p:sp>
        <p:nvSpPr>
          <p:cNvPr id="24" name="Text 22"/>
          <p:cNvSpPr txBox="1"/>
          <p:nvPr/>
        </p:nvSpPr>
        <p:spPr>
          <a:xfrm>
            <a:off x="6080760" y="3566160"/>
            <a:ext cx="2377440" cy="731520"/>
          </a:xfrm>
          <a:prstGeom prst="rect">
            <a:avLst/>
          </a:prstGeom>
          <a:noFill/>
          <a:ln/>
        </p:spPr>
        <p:txBody>
          <a:bodyPr wrap="square" lIns="0" tIns="0" rIns="0" bIns="0" rtlCol="0" anchor="t"/>
          <a:lstStyle/>
          <a:p>
            <a:pPr indent="0" marL="0">
              <a:buNone/>
            </a:pPr>
            <a:r>
              <a:rPr lang="en-US" sz="1300" dirty="0">
                <a:solidFill>
                  <a:srgbClr val="CDEBF3"/>
                </a:solidFill>
                <a:latin typeface="Calibri" pitchFamily="34" charset="0"/>
                <a:ea typeface="Calibri" pitchFamily="34" charset="-122"/>
                <a:cs typeface="Calibri" pitchFamily="34" charset="-120"/>
              </a:rPr>
              <a:t>Tank overflow • Dry tank • Wasted power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Objectives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02  OBJECTIVES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3</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51560"/>
            <a:ext cx="4023360" cy="777240"/>
          </a:xfrm>
          <a:prstGeom prst="roundRect">
            <a:avLst>
              <a:gd name="adj" fmla="val 9412"/>
            </a:avLst>
          </a:prstGeom>
          <a:solidFill>
            <a:srgbClr val="EEF7FA"/>
          </a:solidFill>
          <a:ln w="12700">
            <a:solidFill>
              <a:srgbClr val="EEF7FA"/>
            </a:solidFill>
            <a:prstDash val="solid"/>
          </a:ln>
        </p:spPr>
      </p:sp>
      <p:sp>
        <p:nvSpPr>
          <p:cNvPr id="7" name="Shape 5"/>
          <p:cNvSpPr/>
          <p:nvPr/>
        </p:nvSpPr>
        <p:spPr>
          <a:xfrm>
            <a:off x="594360" y="1188720"/>
            <a:ext cx="502920" cy="502920"/>
          </a:xfrm>
          <a:prstGeom prst="ellipse">
            <a:avLst/>
          </a:prstGeom>
          <a:solidFill>
            <a:srgbClr val="1789A8"/>
          </a:solidFill>
          <a:ln w="12700">
            <a:solidFill>
              <a:srgbClr val="1789A8"/>
            </a:solidFill>
            <a:prstDash val="solid"/>
          </a:ln>
        </p:spPr>
      </p:sp>
      <p:sp>
        <p:nvSpPr>
          <p:cNvPr id="8" name="Text 6"/>
          <p:cNvSpPr txBox="1"/>
          <p:nvPr/>
        </p:nvSpPr>
        <p:spPr>
          <a:xfrm>
            <a:off x="594360" y="1188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234440" y="1143000"/>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Water-level monitoring</a:t>
            </a:r>
            <a:endParaRPr lang="en-US" sz="1500" dirty="0"/>
          </a:p>
        </p:txBody>
      </p:sp>
      <p:sp>
        <p:nvSpPr>
          <p:cNvPr id="10" name="Text 8"/>
          <p:cNvSpPr txBox="1"/>
          <p:nvPr/>
        </p:nvSpPr>
        <p:spPr>
          <a:xfrm>
            <a:off x="1234440" y="1453896"/>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Ultrasonic distance → level estimate</a:t>
            </a:r>
            <a:endParaRPr lang="en-US" sz="1200" dirty="0"/>
          </a:p>
        </p:txBody>
      </p:sp>
      <p:sp>
        <p:nvSpPr>
          <p:cNvPr id="11" name="Shape 9"/>
          <p:cNvSpPr/>
          <p:nvPr/>
        </p:nvSpPr>
        <p:spPr>
          <a:xfrm>
            <a:off x="4663440" y="1051560"/>
            <a:ext cx="4023360" cy="777240"/>
          </a:xfrm>
          <a:prstGeom prst="roundRect">
            <a:avLst>
              <a:gd name="adj" fmla="val 9412"/>
            </a:avLst>
          </a:prstGeom>
          <a:solidFill>
            <a:srgbClr val="EEF7FA"/>
          </a:solidFill>
          <a:ln w="12700">
            <a:solidFill>
              <a:srgbClr val="EEF7FA"/>
            </a:solidFill>
            <a:prstDash val="solid"/>
          </a:ln>
        </p:spPr>
      </p:sp>
      <p:sp>
        <p:nvSpPr>
          <p:cNvPr id="12" name="Shape 10"/>
          <p:cNvSpPr/>
          <p:nvPr/>
        </p:nvSpPr>
        <p:spPr>
          <a:xfrm>
            <a:off x="4800600" y="1188720"/>
            <a:ext cx="502920" cy="502920"/>
          </a:xfrm>
          <a:prstGeom prst="ellipse">
            <a:avLst/>
          </a:prstGeom>
          <a:solidFill>
            <a:srgbClr val="0B3C5D"/>
          </a:solidFill>
          <a:ln w="12700">
            <a:solidFill>
              <a:srgbClr val="0B3C5D"/>
            </a:solidFill>
            <a:prstDash val="solid"/>
          </a:ln>
        </p:spPr>
      </p:sp>
      <p:sp>
        <p:nvSpPr>
          <p:cNvPr id="13" name="Text 11"/>
          <p:cNvSpPr txBox="1"/>
          <p:nvPr/>
        </p:nvSpPr>
        <p:spPr>
          <a:xfrm>
            <a:off x="4800600" y="1188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5440680" y="1143000"/>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Automatic pump control</a:t>
            </a:r>
            <a:endParaRPr lang="en-US" sz="1500" dirty="0"/>
          </a:p>
        </p:txBody>
      </p:sp>
      <p:sp>
        <p:nvSpPr>
          <p:cNvPr id="15" name="Text 13"/>
          <p:cNvSpPr txBox="1"/>
          <p:nvPr/>
        </p:nvSpPr>
        <p:spPr>
          <a:xfrm>
            <a:off x="5440680" y="1453896"/>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ON at ≤30%, OFF at ≥90%</a:t>
            </a:r>
            <a:endParaRPr lang="en-US" sz="1200" dirty="0"/>
          </a:p>
        </p:txBody>
      </p:sp>
      <p:sp>
        <p:nvSpPr>
          <p:cNvPr id="16" name="Shape 14"/>
          <p:cNvSpPr/>
          <p:nvPr/>
        </p:nvSpPr>
        <p:spPr>
          <a:xfrm>
            <a:off x="457200" y="1938528"/>
            <a:ext cx="4023360" cy="777240"/>
          </a:xfrm>
          <a:prstGeom prst="roundRect">
            <a:avLst>
              <a:gd name="adj" fmla="val 9412"/>
            </a:avLst>
          </a:prstGeom>
          <a:solidFill>
            <a:srgbClr val="EEF7FA"/>
          </a:solidFill>
          <a:ln w="12700">
            <a:solidFill>
              <a:srgbClr val="EEF7FA"/>
            </a:solidFill>
            <a:prstDash val="solid"/>
          </a:ln>
        </p:spPr>
      </p:sp>
      <p:sp>
        <p:nvSpPr>
          <p:cNvPr id="17" name="Shape 15"/>
          <p:cNvSpPr/>
          <p:nvPr/>
        </p:nvSpPr>
        <p:spPr>
          <a:xfrm>
            <a:off x="594360" y="2075688"/>
            <a:ext cx="502920" cy="502920"/>
          </a:xfrm>
          <a:prstGeom prst="ellipse">
            <a:avLst/>
          </a:prstGeom>
          <a:solidFill>
            <a:srgbClr val="1789A8"/>
          </a:solidFill>
          <a:ln w="12700">
            <a:solidFill>
              <a:srgbClr val="1789A8"/>
            </a:solidFill>
            <a:prstDash val="solid"/>
          </a:ln>
        </p:spPr>
      </p:sp>
      <p:sp>
        <p:nvSpPr>
          <p:cNvPr id="18" name="Text 16"/>
          <p:cNvSpPr txBox="1"/>
          <p:nvPr/>
        </p:nvSpPr>
        <p:spPr>
          <a:xfrm>
            <a:off x="594360" y="2075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234440" y="2029968"/>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Water-flow measurement</a:t>
            </a:r>
            <a:endParaRPr lang="en-US" sz="1500" dirty="0"/>
          </a:p>
        </p:txBody>
      </p:sp>
      <p:sp>
        <p:nvSpPr>
          <p:cNvPr id="20" name="Text 18"/>
          <p:cNvSpPr txBox="1"/>
          <p:nvPr/>
        </p:nvSpPr>
        <p:spPr>
          <a:xfrm>
            <a:off x="1234440" y="2340864"/>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YF-402 flow rate and total volume</a:t>
            </a:r>
            <a:endParaRPr lang="en-US" sz="1200" dirty="0"/>
          </a:p>
        </p:txBody>
      </p:sp>
      <p:sp>
        <p:nvSpPr>
          <p:cNvPr id="21" name="Shape 19"/>
          <p:cNvSpPr/>
          <p:nvPr/>
        </p:nvSpPr>
        <p:spPr>
          <a:xfrm>
            <a:off x="4663440" y="1938528"/>
            <a:ext cx="4023360" cy="777240"/>
          </a:xfrm>
          <a:prstGeom prst="roundRect">
            <a:avLst>
              <a:gd name="adj" fmla="val 9412"/>
            </a:avLst>
          </a:prstGeom>
          <a:solidFill>
            <a:srgbClr val="EEF7FA"/>
          </a:solidFill>
          <a:ln w="12700">
            <a:solidFill>
              <a:srgbClr val="EEF7FA"/>
            </a:solidFill>
            <a:prstDash val="solid"/>
          </a:ln>
        </p:spPr>
      </p:sp>
      <p:sp>
        <p:nvSpPr>
          <p:cNvPr id="22" name="Shape 20"/>
          <p:cNvSpPr/>
          <p:nvPr/>
        </p:nvSpPr>
        <p:spPr>
          <a:xfrm>
            <a:off x="4800600" y="2075688"/>
            <a:ext cx="502920" cy="502920"/>
          </a:xfrm>
          <a:prstGeom prst="ellipse">
            <a:avLst/>
          </a:prstGeom>
          <a:solidFill>
            <a:srgbClr val="1789A8"/>
          </a:solidFill>
          <a:ln w="12700">
            <a:solidFill>
              <a:srgbClr val="1789A8"/>
            </a:solidFill>
            <a:prstDash val="solid"/>
          </a:ln>
        </p:spPr>
      </p:sp>
      <p:sp>
        <p:nvSpPr>
          <p:cNvPr id="23" name="Text 21"/>
          <p:cNvSpPr txBox="1"/>
          <p:nvPr/>
        </p:nvSpPr>
        <p:spPr>
          <a:xfrm>
            <a:off x="4800600" y="20756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5440680" y="2029968"/>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Water-quality monitoring</a:t>
            </a:r>
            <a:endParaRPr lang="en-US" sz="1500" dirty="0"/>
          </a:p>
        </p:txBody>
      </p:sp>
      <p:sp>
        <p:nvSpPr>
          <p:cNvPr id="25" name="Text 23"/>
          <p:cNvSpPr txBox="1"/>
          <p:nvPr/>
        </p:nvSpPr>
        <p:spPr>
          <a:xfrm>
            <a:off x="5440680" y="2340864"/>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TDS sensor estimates dissolved solids</a:t>
            </a:r>
            <a:endParaRPr lang="en-US" sz="1200" dirty="0"/>
          </a:p>
        </p:txBody>
      </p:sp>
      <p:sp>
        <p:nvSpPr>
          <p:cNvPr id="26" name="Shape 24"/>
          <p:cNvSpPr/>
          <p:nvPr/>
        </p:nvSpPr>
        <p:spPr>
          <a:xfrm>
            <a:off x="457200" y="2825496"/>
            <a:ext cx="4023360" cy="777240"/>
          </a:xfrm>
          <a:prstGeom prst="roundRect">
            <a:avLst>
              <a:gd name="adj" fmla="val 9412"/>
            </a:avLst>
          </a:prstGeom>
          <a:solidFill>
            <a:srgbClr val="EEF7FA"/>
          </a:solidFill>
          <a:ln w="12700">
            <a:solidFill>
              <a:srgbClr val="EEF7FA"/>
            </a:solidFill>
            <a:prstDash val="solid"/>
          </a:ln>
        </p:spPr>
      </p:sp>
      <p:sp>
        <p:nvSpPr>
          <p:cNvPr id="27" name="Shape 25"/>
          <p:cNvSpPr/>
          <p:nvPr/>
        </p:nvSpPr>
        <p:spPr>
          <a:xfrm>
            <a:off x="594360" y="2962656"/>
            <a:ext cx="502920" cy="502920"/>
          </a:xfrm>
          <a:prstGeom prst="ellipse">
            <a:avLst/>
          </a:prstGeom>
          <a:solidFill>
            <a:srgbClr val="0B3C5D"/>
          </a:solidFill>
          <a:ln w="12700">
            <a:solidFill>
              <a:srgbClr val="0B3C5D"/>
            </a:solidFill>
            <a:prstDash val="solid"/>
          </a:ln>
        </p:spPr>
      </p:sp>
      <p:sp>
        <p:nvSpPr>
          <p:cNvPr id="28" name="Text 26"/>
          <p:cNvSpPr txBox="1"/>
          <p:nvPr/>
        </p:nvSpPr>
        <p:spPr>
          <a:xfrm>
            <a:off x="594360" y="29626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1234440" y="2916936"/>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Real-time display</a:t>
            </a:r>
            <a:endParaRPr lang="en-US" sz="1500" dirty="0"/>
          </a:p>
        </p:txBody>
      </p:sp>
      <p:sp>
        <p:nvSpPr>
          <p:cNvPr id="30" name="Text 28"/>
          <p:cNvSpPr txBox="1"/>
          <p:nvPr/>
        </p:nvSpPr>
        <p:spPr>
          <a:xfrm>
            <a:off x="1234440" y="3227832"/>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Level, distance, flow, total use, TDS on 16×2 LCD</a:t>
            </a:r>
            <a:endParaRPr lang="en-US" sz="1200" dirty="0"/>
          </a:p>
        </p:txBody>
      </p:sp>
      <p:sp>
        <p:nvSpPr>
          <p:cNvPr id="31" name="Shape 29"/>
          <p:cNvSpPr/>
          <p:nvPr/>
        </p:nvSpPr>
        <p:spPr>
          <a:xfrm>
            <a:off x="4663440" y="2825496"/>
            <a:ext cx="4023360" cy="777240"/>
          </a:xfrm>
          <a:prstGeom prst="roundRect">
            <a:avLst>
              <a:gd name="adj" fmla="val 9412"/>
            </a:avLst>
          </a:prstGeom>
          <a:solidFill>
            <a:srgbClr val="EEF7FA"/>
          </a:solidFill>
          <a:ln w="12700">
            <a:solidFill>
              <a:srgbClr val="EEF7FA"/>
            </a:solidFill>
            <a:prstDash val="solid"/>
          </a:ln>
        </p:spPr>
      </p:sp>
      <p:sp>
        <p:nvSpPr>
          <p:cNvPr id="32" name="Shape 30"/>
          <p:cNvSpPr/>
          <p:nvPr/>
        </p:nvSpPr>
        <p:spPr>
          <a:xfrm>
            <a:off x="4800600" y="2962656"/>
            <a:ext cx="502920" cy="502920"/>
          </a:xfrm>
          <a:prstGeom prst="ellipse">
            <a:avLst/>
          </a:prstGeom>
          <a:solidFill>
            <a:srgbClr val="1789A8"/>
          </a:solidFill>
          <a:ln w="12700">
            <a:solidFill>
              <a:srgbClr val="1789A8"/>
            </a:solidFill>
            <a:prstDash val="solid"/>
          </a:ln>
        </p:spPr>
      </p:sp>
      <p:sp>
        <p:nvSpPr>
          <p:cNvPr id="33" name="Text 31"/>
          <p:cNvSpPr txBox="1"/>
          <p:nvPr/>
        </p:nvSpPr>
        <p:spPr>
          <a:xfrm>
            <a:off x="4800600" y="296265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4" name="Text 32"/>
          <p:cNvSpPr txBox="1"/>
          <p:nvPr/>
        </p:nvSpPr>
        <p:spPr>
          <a:xfrm>
            <a:off x="5440680" y="2916936"/>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Alert system</a:t>
            </a:r>
            <a:endParaRPr lang="en-US" sz="1500" dirty="0"/>
          </a:p>
        </p:txBody>
      </p:sp>
      <p:sp>
        <p:nvSpPr>
          <p:cNvPr id="35" name="Text 33"/>
          <p:cNvSpPr txBox="1"/>
          <p:nvPr/>
        </p:nvSpPr>
        <p:spPr>
          <a:xfrm>
            <a:off x="5440680" y="3227832"/>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Buzzer on level or TDS thresholds</a:t>
            </a:r>
            <a:endParaRPr lang="en-US" sz="1200" dirty="0"/>
          </a:p>
        </p:txBody>
      </p:sp>
      <p:sp>
        <p:nvSpPr>
          <p:cNvPr id="36" name="Shape 34"/>
          <p:cNvSpPr/>
          <p:nvPr/>
        </p:nvSpPr>
        <p:spPr>
          <a:xfrm>
            <a:off x="457200" y="3712464"/>
            <a:ext cx="4023360" cy="777240"/>
          </a:xfrm>
          <a:prstGeom prst="roundRect">
            <a:avLst>
              <a:gd name="adj" fmla="val 9412"/>
            </a:avLst>
          </a:prstGeom>
          <a:solidFill>
            <a:srgbClr val="EEF7FA"/>
          </a:solidFill>
          <a:ln w="12700">
            <a:solidFill>
              <a:srgbClr val="EEF7FA"/>
            </a:solidFill>
            <a:prstDash val="solid"/>
          </a:ln>
        </p:spPr>
      </p:sp>
      <p:sp>
        <p:nvSpPr>
          <p:cNvPr id="37" name="Shape 35"/>
          <p:cNvSpPr/>
          <p:nvPr/>
        </p:nvSpPr>
        <p:spPr>
          <a:xfrm>
            <a:off x="594360" y="3849624"/>
            <a:ext cx="502920" cy="502920"/>
          </a:xfrm>
          <a:prstGeom prst="ellipse">
            <a:avLst/>
          </a:prstGeom>
          <a:solidFill>
            <a:srgbClr val="1789A8"/>
          </a:solidFill>
          <a:ln w="12700">
            <a:solidFill>
              <a:srgbClr val="1789A8"/>
            </a:solidFill>
            <a:prstDash val="solid"/>
          </a:ln>
        </p:spPr>
      </p:sp>
      <p:sp>
        <p:nvSpPr>
          <p:cNvPr id="38" name="Text 36"/>
          <p:cNvSpPr txBox="1"/>
          <p:nvPr/>
        </p:nvSpPr>
        <p:spPr>
          <a:xfrm>
            <a:off x="594360" y="38496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9" name="Text 37"/>
          <p:cNvSpPr txBox="1"/>
          <p:nvPr/>
        </p:nvSpPr>
        <p:spPr>
          <a:xfrm>
            <a:off x="1234440" y="3803904"/>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Water conservation</a:t>
            </a:r>
            <a:endParaRPr lang="en-US" sz="1500" dirty="0"/>
          </a:p>
        </p:txBody>
      </p:sp>
      <p:sp>
        <p:nvSpPr>
          <p:cNvPr id="40" name="Text 38"/>
          <p:cNvSpPr txBox="1"/>
          <p:nvPr/>
        </p:nvSpPr>
        <p:spPr>
          <a:xfrm>
            <a:off x="1234440" y="4114800"/>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Minimise overflow and wastage</a:t>
            </a:r>
            <a:endParaRPr lang="en-US" sz="1200" dirty="0"/>
          </a:p>
        </p:txBody>
      </p:sp>
      <p:sp>
        <p:nvSpPr>
          <p:cNvPr id="41" name="Shape 39"/>
          <p:cNvSpPr/>
          <p:nvPr/>
        </p:nvSpPr>
        <p:spPr>
          <a:xfrm>
            <a:off x="4663440" y="3712464"/>
            <a:ext cx="4023360" cy="777240"/>
          </a:xfrm>
          <a:prstGeom prst="roundRect">
            <a:avLst>
              <a:gd name="adj" fmla="val 9412"/>
            </a:avLst>
          </a:prstGeom>
          <a:solidFill>
            <a:srgbClr val="EEF7FA"/>
          </a:solidFill>
          <a:ln w="12700">
            <a:solidFill>
              <a:srgbClr val="EEF7FA"/>
            </a:solidFill>
            <a:prstDash val="solid"/>
          </a:ln>
        </p:spPr>
      </p:sp>
      <p:sp>
        <p:nvSpPr>
          <p:cNvPr id="42" name="Shape 40"/>
          <p:cNvSpPr/>
          <p:nvPr/>
        </p:nvSpPr>
        <p:spPr>
          <a:xfrm>
            <a:off x="4800600" y="3849624"/>
            <a:ext cx="502920" cy="502920"/>
          </a:xfrm>
          <a:prstGeom prst="ellipse">
            <a:avLst/>
          </a:prstGeom>
          <a:solidFill>
            <a:srgbClr val="0B3C5D"/>
          </a:solidFill>
          <a:ln w="12700">
            <a:solidFill>
              <a:srgbClr val="0B3C5D"/>
            </a:solidFill>
            <a:prstDash val="solid"/>
          </a:ln>
        </p:spPr>
      </p:sp>
      <p:sp>
        <p:nvSpPr>
          <p:cNvPr id="43" name="Text 41"/>
          <p:cNvSpPr txBox="1"/>
          <p:nvPr/>
        </p:nvSpPr>
        <p:spPr>
          <a:xfrm>
            <a:off x="4800600" y="38496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4" name="Text 42"/>
          <p:cNvSpPr txBox="1"/>
          <p:nvPr/>
        </p:nvSpPr>
        <p:spPr>
          <a:xfrm>
            <a:off x="5440680" y="3803904"/>
            <a:ext cx="31546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Embedded integration</a:t>
            </a:r>
            <a:endParaRPr lang="en-US" sz="1500" dirty="0"/>
          </a:p>
        </p:txBody>
      </p:sp>
      <p:sp>
        <p:nvSpPr>
          <p:cNvPr id="45" name="Text 43"/>
          <p:cNvSpPr txBox="1"/>
          <p:nvPr/>
        </p:nvSpPr>
        <p:spPr>
          <a:xfrm>
            <a:off x="5440680" y="4114800"/>
            <a:ext cx="315468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Sensors, actuators and MCU as one system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Hardware Requirements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03  REQUIREMENTS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4</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411480"/>
                <a:gridCol w="2606040"/>
                <a:gridCol w="731520"/>
                <a:gridCol w="448056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Qty</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ESP32 DevKit V1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Main microcontroller: processes sensors, drives outputs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Ultrasonic sensor (HC-SR04)</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Measures distance to the water surface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YF-402 flow sensor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Measures water flow using electrical pulses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TDS sensor module with probe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Estimates total dissolved solids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16×2 LCD with I²C module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Shows readings and pump status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JQC3F-05VDC relay module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Switches the water pump ON/OFF</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Water pump</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Transfers water into or out of the tank</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Buzzer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Audible alerts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Regulated power supply</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As req.</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Powers the ESP32 and peripherals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Connecting wires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As req.</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Electrical connections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Breadboard</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Prototype wiring, if used</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Water tank and pipe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1B2A35"/>
                          </a:solidFill>
                          <a:latin typeface="Calibri" pitchFamily="34" charset="0"/>
                          <a:ea typeface="Calibri" pitchFamily="34" charset="-122"/>
                          <a:cs typeface="Calibri" pitchFamily="34" charset="-120"/>
                        </a:rPr>
                        <a:t>As req.</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Test environment for level and flow</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Software Requirements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03  REQUIREMENTS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5</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51560"/>
            <a:ext cx="5029200" cy="585216"/>
          </a:xfrm>
          <a:prstGeom prst="roundRect">
            <a:avLst>
              <a:gd name="adj" fmla="val 12500"/>
            </a:avLst>
          </a:prstGeom>
          <a:solidFill>
            <a:srgbClr val="EEF7FA"/>
          </a:solidFill>
          <a:ln w="12700">
            <a:solidFill>
              <a:srgbClr val="EEF7FA"/>
            </a:solidFill>
            <a:prstDash val="solid"/>
          </a:ln>
        </p:spPr>
        <p:txBody>
          <a:bodyPr/>
          <a:p/>
        </p:txBody>
      </p:sp>
      <p:sp>
        <p:nvSpPr>
          <p:cNvPr id="7" name="Text 5"/>
          <p:cNvSpPr txBox="1"/>
          <p:nvPr/>
        </p:nvSpPr>
        <p:spPr>
          <a:xfrm>
            <a:off x="640080" y="1106424"/>
            <a:ext cx="4663440" cy="237744"/>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Arduino IDE</a:t>
            </a:r>
            <a:endParaRPr lang="en-US" sz="1400" dirty="0"/>
          </a:p>
        </p:txBody>
      </p:sp>
      <p:sp>
        <p:nvSpPr>
          <p:cNvPr id="8" name="Text 6"/>
          <p:cNvSpPr txBox="1"/>
          <p:nvPr/>
        </p:nvSpPr>
        <p:spPr>
          <a:xfrm>
            <a:off x="640080" y="1353312"/>
            <a:ext cx="4663440" cy="237744"/>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Write, compile and upload the ESP32 program</a:t>
            </a:r>
            <a:endParaRPr lang="en-US" sz="1200" dirty="0"/>
          </a:p>
        </p:txBody>
      </p:sp>
      <p:sp>
        <p:nvSpPr>
          <p:cNvPr id="9" name="Shape 7"/>
          <p:cNvSpPr/>
          <p:nvPr/>
        </p:nvSpPr>
        <p:spPr>
          <a:xfrm>
            <a:off x="457200" y="1728216"/>
            <a:ext cx="5029200" cy="585216"/>
          </a:xfrm>
          <a:prstGeom prst="roundRect">
            <a:avLst>
              <a:gd name="adj" fmla="val 12500"/>
            </a:avLst>
          </a:prstGeom>
          <a:solidFill>
            <a:srgbClr val="EEF7FA"/>
          </a:solidFill>
          <a:ln w="12700">
            <a:solidFill>
              <a:srgbClr val="EEF7FA"/>
            </a:solidFill>
            <a:prstDash val="solid"/>
          </a:ln>
        </p:spPr>
        <p:txBody>
          <a:bodyPr/>
          <a:p/>
        </p:txBody>
      </p:sp>
      <p:sp>
        <p:nvSpPr>
          <p:cNvPr id="10" name="Text 8"/>
          <p:cNvSpPr txBox="1"/>
          <p:nvPr/>
        </p:nvSpPr>
        <p:spPr>
          <a:xfrm>
            <a:off x="640080" y="1783080"/>
            <a:ext cx="4663440" cy="237744"/>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ESP32 Arduino board package</a:t>
            </a:r>
            <a:endParaRPr lang="en-US" sz="1400" dirty="0"/>
          </a:p>
        </p:txBody>
      </p:sp>
      <p:sp>
        <p:nvSpPr>
          <p:cNvPr id="11" name="Text 9"/>
          <p:cNvSpPr txBox="1"/>
          <p:nvPr/>
        </p:nvSpPr>
        <p:spPr>
          <a:xfrm>
            <a:off x="640080" y="2029968"/>
            <a:ext cx="4663440" cy="237744"/>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ESP32 board support in the IDE</a:t>
            </a:r>
            <a:endParaRPr lang="en-US" sz="1200" dirty="0"/>
          </a:p>
        </p:txBody>
      </p:sp>
      <p:sp>
        <p:nvSpPr>
          <p:cNvPr id="12" name="Shape 10"/>
          <p:cNvSpPr/>
          <p:nvPr/>
        </p:nvSpPr>
        <p:spPr>
          <a:xfrm>
            <a:off x="457200" y="2404872"/>
            <a:ext cx="5029200" cy="585216"/>
          </a:xfrm>
          <a:prstGeom prst="roundRect">
            <a:avLst>
              <a:gd name="adj" fmla="val 12500"/>
            </a:avLst>
          </a:prstGeom>
          <a:solidFill>
            <a:srgbClr val="EEF7FA"/>
          </a:solidFill>
          <a:ln w="12700">
            <a:solidFill>
              <a:srgbClr val="EEF7FA"/>
            </a:solidFill>
            <a:prstDash val="solid"/>
          </a:ln>
        </p:spPr>
        <p:txBody>
          <a:bodyPr/>
          <a:p/>
        </p:txBody>
      </p:sp>
      <p:sp>
        <p:nvSpPr>
          <p:cNvPr id="13" name="Text 11"/>
          <p:cNvSpPr txBox="1"/>
          <p:nvPr/>
        </p:nvSpPr>
        <p:spPr>
          <a:xfrm>
            <a:off x="640080" y="2459736"/>
            <a:ext cx="4663440" cy="237744"/>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LiquidCrystal_I2C library</a:t>
            </a:r>
            <a:endParaRPr lang="en-US" sz="1400" dirty="0"/>
          </a:p>
        </p:txBody>
      </p:sp>
      <p:sp>
        <p:nvSpPr>
          <p:cNvPr id="14" name="Text 12"/>
          <p:cNvSpPr txBox="1"/>
          <p:nvPr/>
        </p:nvSpPr>
        <p:spPr>
          <a:xfrm>
            <a:off x="640080" y="2706624"/>
            <a:ext cx="4663440" cy="237744"/>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Controls the I²C LCD</a:t>
            </a:r>
            <a:endParaRPr lang="en-US" sz="1200" dirty="0"/>
          </a:p>
        </p:txBody>
      </p:sp>
      <p:sp>
        <p:nvSpPr>
          <p:cNvPr id="15" name="Shape 13"/>
          <p:cNvSpPr/>
          <p:nvPr/>
        </p:nvSpPr>
        <p:spPr>
          <a:xfrm>
            <a:off x="457200" y="3081528"/>
            <a:ext cx="5029200" cy="585216"/>
          </a:xfrm>
          <a:prstGeom prst="roundRect">
            <a:avLst>
              <a:gd name="adj" fmla="val 12500"/>
            </a:avLst>
          </a:prstGeom>
          <a:solidFill>
            <a:srgbClr val="EEF7FA"/>
          </a:solidFill>
          <a:ln w="12700">
            <a:solidFill>
              <a:srgbClr val="EEF7FA"/>
            </a:solidFill>
            <a:prstDash val="solid"/>
          </a:ln>
        </p:spPr>
        <p:txBody>
          <a:bodyPr/>
          <a:p/>
        </p:txBody>
      </p:sp>
      <p:sp>
        <p:nvSpPr>
          <p:cNvPr id="16" name="Text 14"/>
          <p:cNvSpPr txBox="1"/>
          <p:nvPr/>
        </p:nvSpPr>
        <p:spPr>
          <a:xfrm>
            <a:off x="640080" y="3136392"/>
            <a:ext cx="4663440" cy="237744"/>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Serial Monitor (115200 baud)</a:t>
            </a:r>
            <a:endParaRPr lang="en-US" sz="1400" dirty="0"/>
          </a:p>
        </p:txBody>
      </p:sp>
      <p:sp>
        <p:nvSpPr>
          <p:cNvPr id="17" name="Text 15"/>
          <p:cNvSpPr txBox="1"/>
          <p:nvPr/>
        </p:nvSpPr>
        <p:spPr>
          <a:xfrm>
            <a:off x="640080" y="3383280"/>
            <a:ext cx="4663440" cy="237744"/>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Readings and debugging output</a:t>
            </a:r>
            <a:endParaRPr lang="en-US" sz="1200" dirty="0"/>
          </a:p>
        </p:txBody>
      </p:sp>
      <p:sp>
        <p:nvSpPr>
          <p:cNvPr id="18" name="Shape 16"/>
          <p:cNvSpPr/>
          <p:nvPr/>
        </p:nvSpPr>
        <p:spPr>
          <a:xfrm>
            <a:off x="457200" y="3758184"/>
            <a:ext cx="5029200" cy="585216"/>
          </a:xfrm>
          <a:prstGeom prst="roundRect">
            <a:avLst>
              <a:gd name="adj" fmla="val 12500"/>
            </a:avLst>
          </a:prstGeom>
          <a:solidFill>
            <a:srgbClr val="EEF7FA"/>
          </a:solidFill>
          <a:ln w="12700">
            <a:solidFill>
              <a:srgbClr val="EEF7FA"/>
            </a:solidFill>
            <a:prstDash val="solid"/>
          </a:ln>
        </p:spPr>
        <p:txBody>
          <a:bodyPr/>
          <a:p/>
        </p:txBody>
      </p:sp>
      <p:sp>
        <p:nvSpPr>
          <p:cNvPr id="19" name="Text 17"/>
          <p:cNvSpPr txBox="1"/>
          <p:nvPr/>
        </p:nvSpPr>
        <p:spPr>
          <a:xfrm>
            <a:off x="640080" y="3813048"/>
            <a:ext cx="4663440" cy="237744"/>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Embedded C++</a:t>
            </a:r>
            <a:endParaRPr lang="en-US" sz="1400" dirty="0"/>
          </a:p>
        </p:txBody>
      </p:sp>
      <p:sp>
        <p:nvSpPr>
          <p:cNvPr id="20" name="Text 18"/>
          <p:cNvSpPr txBox="1"/>
          <p:nvPr/>
        </p:nvSpPr>
        <p:spPr>
          <a:xfrm>
            <a:off x="640080" y="4059936"/>
            <a:ext cx="4663440" cy="237744"/>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Sensor processing and control logic</a:t>
            </a:r>
            <a:endParaRPr lang="en-US" sz="1200" dirty="0"/>
          </a:p>
        </p:txBody>
      </p:sp>
      <p:sp>
        <p:nvSpPr>
          <p:cNvPr id="21" name="Shape 19"/>
          <p:cNvSpPr/>
          <p:nvPr/>
        </p:nvSpPr>
        <p:spPr>
          <a:xfrm>
            <a:off x="5760720" y="1051560"/>
            <a:ext cx="2926080" cy="1600200"/>
          </a:xfrm>
          <a:prstGeom prst="roundRect">
            <a:avLst>
              <a:gd name="adj" fmla="val 4571"/>
            </a:avLst>
          </a:prstGeom>
          <a:solidFill>
            <a:srgbClr val="0B3C5D"/>
          </a:solidFill>
          <a:ln w="12700">
            <a:solidFill>
              <a:srgbClr val="0B3C5D"/>
            </a:solidFill>
            <a:prstDash val="solid"/>
          </a:ln>
        </p:spPr>
        <p:txBody>
          <a:bodyPr/>
          <a:p/>
        </p:txBody>
      </p:sp>
      <p:sp>
        <p:nvSpPr>
          <p:cNvPr id="22" name="Text 20"/>
          <p:cNvSpPr txBox="1"/>
          <p:nvPr/>
        </p:nvSpPr>
        <p:spPr>
          <a:xfrm>
            <a:off x="5943600" y="1170432"/>
            <a:ext cx="2560320" cy="274320"/>
          </a:xfrm>
          <a:prstGeom prst="rect">
            <a:avLst/>
          </a:prstGeom>
          <a:noFill/>
          <a:ln/>
        </p:spPr>
        <p:txBody>
          <a:bodyPr wrap="square" lIns="0" tIns="0" rIns="0" bIns="0" rtlCol="0" anchor="t"/>
          <a:lstStyle/>
          <a:p>
            <a:pPr indent="0" marL="0">
              <a:buNone/>
              <a:defRPr sz="1500" b="1">
                <a:solidFill>
                  <a:srgbClr val="12263F"/>
                </a:solidFill>
              </a:defRPr>
            </a:pPr>
            <a:r>
              <a:t>Embedded + IoT prototype</a:t>
            </a:r>
            <a:endParaRPr lang="en-US" sz="1400" dirty="0"/>
          </a:p>
        </p:txBody>
      </p:sp>
      <p:sp>
        <p:nvSpPr>
          <p:cNvPr id="23" name="Text 21"/>
          <p:cNvSpPr txBox="1"/>
          <p:nvPr/>
        </p:nvSpPr>
        <p:spPr>
          <a:xfrm>
            <a:off x="5943600" y="1508760"/>
            <a:ext cx="2560320" cy="1005840"/>
          </a:xfrm>
          <a:prstGeom prst="rect">
            <a:avLst/>
          </a:prstGeom>
          <a:noFill/>
          <a:ln/>
        </p:spPr>
        <p:txBody>
          <a:bodyPr wrap="square" lIns="0" tIns="0" rIns="0" bIns="0" rtlCol="0" anchor="t"/>
          <a:lstStyle/>
          <a:p>
            <a:pPr indent="0" marL="0">
              <a:buNone/>
              <a:defRPr sz="1200" b="0">
                <a:solidFill>
                  <a:srgbClr val="273443"/>
                </a:solidFill>
              </a:defRPr>
            </a:pPr>
            <a:r>
              <a:t>ESP32 reads sensors and controls the pump locally; Wi-Fi connects telemetry to HiveMQ Cloud.</a:t>
            </a:r>
            <a:endParaRPr lang="en-US" sz="1600" dirty="0"/>
          </a:p>
        </p:txBody>
      </p:sp>
      <p:sp>
        <p:nvSpPr>
          <p:cNvPr id="24" name="Shape 22"/>
          <p:cNvSpPr/>
          <p:nvPr/>
        </p:nvSpPr>
        <p:spPr>
          <a:xfrm>
            <a:off x="5760720" y="2788920"/>
            <a:ext cx="2926080" cy="1600200"/>
          </a:xfrm>
          <a:prstGeom prst="roundRect">
            <a:avLst>
              <a:gd name="adj" fmla="val 4571"/>
            </a:avLst>
          </a:prstGeom>
          <a:solidFill>
            <a:srgbClr val="CDEBF3"/>
          </a:solidFill>
          <a:ln w="12700">
            <a:solidFill>
              <a:srgbClr val="CDEBF3"/>
            </a:solidFill>
            <a:prstDash val="solid"/>
          </a:ln>
        </p:spPr>
        <p:txBody>
          <a:bodyPr/>
          <a:p/>
        </p:txBody>
      </p:sp>
      <p:sp>
        <p:nvSpPr>
          <p:cNvPr id="25" name="Text 23"/>
          <p:cNvSpPr txBox="1"/>
          <p:nvPr/>
        </p:nvSpPr>
        <p:spPr>
          <a:xfrm>
            <a:off x="5943600" y="2907792"/>
            <a:ext cx="2560320" cy="274320"/>
          </a:xfrm>
          <a:prstGeom prst="rect">
            <a:avLst/>
          </a:prstGeom>
          <a:noFill/>
          <a:ln/>
        </p:spPr>
        <p:txBody>
          <a:bodyPr wrap="square" lIns="0" tIns="0" rIns="0" bIns="0" rtlCol="0" anchor="t"/>
          <a:lstStyle/>
          <a:p>
            <a:pPr indent="0" marL="0">
              <a:buNone/>
              <a:defRPr sz="1500" b="1">
                <a:solidFill>
                  <a:srgbClr val="12263F"/>
                </a:solidFill>
              </a:defRPr>
            </a:pPr>
            <a:r>
              <a:t>Cloud-connected stack</a:t>
            </a:r>
            <a:endParaRPr lang="en-US" sz="1400" dirty="0"/>
          </a:p>
        </p:txBody>
      </p:sp>
      <p:sp>
        <p:nvSpPr>
          <p:cNvPr id="26" name="Text 24"/>
          <p:cNvSpPr txBox="1"/>
          <p:nvPr/>
        </p:nvSpPr>
        <p:spPr>
          <a:xfrm>
            <a:off x="5943600" y="3246120"/>
            <a:ext cx="2560320" cy="1097280"/>
          </a:xfrm>
          <a:prstGeom prst="rect">
            <a:avLst/>
          </a:prstGeom>
          <a:noFill/>
          <a:ln/>
        </p:spPr>
        <p:txBody>
          <a:bodyPr wrap="square" lIns="0" tIns="0" rIns="0" bIns="0" rtlCol="0" anchor="t"/>
          <a:lstStyle/>
          <a:p>
            <a:pPr indent="0" marL="0">
              <a:buNone/>
              <a:defRPr sz="1200" b="0">
                <a:solidFill>
                  <a:srgbClr val="273443"/>
                </a:solidFill>
              </a:defRPr>
            </a:pPr>
            <a:r>
              <a:t>HiveMQ Cloud (MQTT) → Node.js/Express API → PostgreSQL history → live dashboard/app.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System Architecture: Four Layers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04  ARCHITECTURE</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6</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188720"/>
            <a:ext cx="1965960" cy="2468880"/>
          </a:xfrm>
          <a:prstGeom prst="roundRect">
            <a:avLst>
              <a:gd name="adj" fmla="val 3721"/>
            </a:avLst>
          </a:prstGeom>
          <a:solidFill>
            <a:srgbClr val="EEF7FA"/>
          </a:solidFill>
          <a:ln w="12700">
            <a:solidFill>
              <a:srgbClr val="EEF7FA"/>
            </a:solidFill>
            <a:prstDash val="solid"/>
          </a:ln>
        </p:spPr>
        <p:txBody>
          <a:bodyPr/>
          <a:p/>
        </p:txBody>
      </p:sp>
      <p:sp>
        <p:nvSpPr>
          <p:cNvPr id="7" name="Shape 5"/>
          <p:cNvSpPr/>
          <p:nvPr/>
        </p:nvSpPr>
        <p:spPr>
          <a:xfrm>
            <a:off x="640080" y="1371600"/>
            <a:ext cx="548640" cy="548640"/>
          </a:xfrm>
          <a:prstGeom prst="ellipse">
            <a:avLst/>
          </a:prstGeom>
          <a:solidFill>
            <a:srgbClr val="1789A8"/>
          </a:solidFill>
          <a:ln w="12700">
            <a:solidFill>
              <a:srgbClr val="1789A8"/>
            </a:solidFill>
            <a:prstDash val="solid"/>
          </a:ln>
        </p:spPr>
        <p:txBody>
          <a:bodyPr/>
          <a:p/>
        </p:txBody>
      </p:sp>
      <p:sp>
        <p:nvSpPr>
          <p:cNvPr id="8" name="Text 6"/>
          <p:cNvSpPr txBox="1"/>
          <p:nvPr/>
        </p:nvSpPr>
        <p:spPr>
          <a:xfrm>
            <a:off x="64008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640080" y="2103120"/>
            <a:ext cx="1645920" cy="32004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Sensing Layer</a:t>
            </a:r>
            <a:endParaRPr lang="en-US" sz="1600" dirty="0"/>
          </a:p>
        </p:txBody>
      </p:sp>
      <p:sp>
        <p:nvSpPr>
          <p:cNvPr id="10" name="Text 8"/>
          <p:cNvSpPr txBox="1"/>
          <p:nvPr/>
        </p:nvSpPr>
        <p:spPr>
          <a:xfrm>
            <a:off x="640080" y="2468880"/>
            <a:ext cx="1645920" cy="114300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Collects water level, flow and TDS data</a:t>
            </a:r>
            <a:endParaRPr lang="en-US" sz="1300" dirty="0"/>
          </a:p>
        </p:txBody>
      </p:sp>
      <p:sp>
        <p:nvSpPr>
          <p:cNvPr id="11" name="Text 9"/>
          <p:cNvSpPr txBox="1"/>
          <p:nvPr/>
        </p:nvSpPr>
        <p:spPr>
          <a:xfrm>
            <a:off x="2377440" y="2011680"/>
            <a:ext cx="228600" cy="457200"/>
          </a:xfrm>
          <a:prstGeom prst="rect">
            <a:avLst/>
          </a:prstGeom>
          <a:noFill/>
          <a:ln/>
        </p:spPr>
        <p:txBody>
          <a:bodyPr wrap="square" lIns="0" tIns="0" rIns="0" bIns="0" rtlCol="0" anchor="ctr"/>
          <a:lstStyle/>
          <a:p>
            <a:pPr algn="ctr" indent="0" marL="0">
              <a:buNone/>
            </a:pPr>
            <a:r>
              <a:rPr lang="en-US" sz="2800" b="1" dirty="0">
                <a:solidFill>
                  <a:srgbClr val="1789A8"/>
                </a:solidFill>
              </a:rPr>
              <a:t>›</a:t>
            </a:r>
            <a:endParaRPr lang="en-US" sz="2800" dirty="0"/>
          </a:p>
        </p:txBody>
      </p:sp>
      <p:sp>
        <p:nvSpPr>
          <p:cNvPr id="12" name="Shape 10"/>
          <p:cNvSpPr/>
          <p:nvPr/>
        </p:nvSpPr>
        <p:spPr>
          <a:xfrm>
            <a:off x="2560320" y="1188720"/>
            <a:ext cx="1965960" cy="2468880"/>
          </a:xfrm>
          <a:prstGeom prst="roundRect">
            <a:avLst>
              <a:gd name="adj" fmla="val 3721"/>
            </a:avLst>
          </a:prstGeom>
          <a:solidFill>
            <a:srgbClr val="CDEBF3"/>
          </a:solidFill>
          <a:ln w="12700">
            <a:solidFill>
              <a:srgbClr val="CDEBF3"/>
            </a:solidFill>
            <a:prstDash val="solid"/>
          </a:ln>
        </p:spPr>
        <p:txBody>
          <a:bodyPr/>
          <a:p/>
        </p:txBody>
      </p:sp>
      <p:sp>
        <p:nvSpPr>
          <p:cNvPr id="13" name="Shape 11"/>
          <p:cNvSpPr/>
          <p:nvPr/>
        </p:nvSpPr>
        <p:spPr>
          <a:xfrm>
            <a:off x="2743200" y="1371600"/>
            <a:ext cx="548640" cy="548640"/>
          </a:xfrm>
          <a:prstGeom prst="ellipse">
            <a:avLst/>
          </a:prstGeom>
          <a:solidFill>
            <a:srgbClr val="0B3C5D"/>
          </a:solidFill>
          <a:ln w="12700">
            <a:solidFill>
              <a:srgbClr val="0B3C5D"/>
            </a:solidFill>
            <a:prstDash val="solid"/>
          </a:ln>
        </p:spPr>
        <p:txBody>
          <a:bodyPr/>
          <a:p/>
        </p:txBody>
      </p:sp>
      <p:sp>
        <p:nvSpPr>
          <p:cNvPr id="14" name="Text 12"/>
          <p:cNvSpPr txBox="1"/>
          <p:nvPr/>
        </p:nvSpPr>
        <p:spPr>
          <a:xfrm>
            <a:off x="274320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2743200" y="2103120"/>
            <a:ext cx="1645920" cy="32004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Processing Layer</a:t>
            </a:r>
            <a:endParaRPr lang="en-US" sz="1600" dirty="0"/>
          </a:p>
        </p:txBody>
      </p:sp>
      <p:sp>
        <p:nvSpPr>
          <p:cNvPr id="16" name="Text 14"/>
          <p:cNvSpPr txBox="1"/>
          <p:nvPr/>
        </p:nvSpPr>
        <p:spPr>
          <a:xfrm>
            <a:off x="2743200" y="2468880"/>
            <a:ext cx="1645920" cy="114300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ESP32 reads sensors, computes level %, flow rate, checks thresholds</a:t>
            </a:r>
            <a:endParaRPr lang="en-US" sz="1300" dirty="0"/>
          </a:p>
        </p:txBody>
      </p:sp>
      <p:sp>
        <p:nvSpPr>
          <p:cNvPr id="17" name="Text 15"/>
          <p:cNvSpPr txBox="1"/>
          <p:nvPr/>
        </p:nvSpPr>
        <p:spPr>
          <a:xfrm>
            <a:off x="4480560" y="2011680"/>
            <a:ext cx="228600" cy="457200"/>
          </a:xfrm>
          <a:prstGeom prst="rect">
            <a:avLst/>
          </a:prstGeom>
          <a:noFill/>
          <a:ln/>
        </p:spPr>
        <p:txBody>
          <a:bodyPr wrap="square" lIns="0" tIns="0" rIns="0" bIns="0" rtlCol="0" anchor="ctr"/>
          <a:lstStyle/>
          <a:p>
            <a:pPr algn="ctr" indent="0" marL="0">
              <a:buNone/>
            </a:pPr>
            <a:r>
              <a:rPr lang="en-US" sz="2800" b="1" dirty="0">
                <a:solidFill>
                  <a:srgbClr val="1789A8"/>
                </a:solidFill>
              </a:rPr>
              <a:t>›</a:t>
            </a:r>
            <a:endParaRPr lang="en-US" sz="2800" dirty="0"/>
          </a:p>
        </p:txBody>
      </p:sp>
      <p:sp>
        <p:nvSpPr>
          <p:cNvPr id="18" name="Shape 16"/>
          <p:cNvSpPr/>
          <p:nvPr/>
        </p:nvSpPr>
        <p:spPr>
          <a:xfrm>
            <a:off x="4663440" y="1188720"/>
            <a:ext cx="1965960" cy="2468880"/>
          </a:xfrm>
          <a:prstGeom prst="roundRect">
            <a:avLst>
              <a:gd name="adj" fmla="val 3721"/>
            </a:avLst>
          </a:prstGeom>
          <a:solidFill>
            <a:srgbClr val="EEF7FA"/>
          </a:solidFill>
          <a:ln w="12700">
            <a:solidFill>
              <a:srgbClr val="EEF7FA"/>
            </a:solidFill>
            <a:prstDash val="solid"/>
          </a:ln>
        </p:spPr>
        <p:txBody>
          <a:bodyPr/>
          <a:p/>
        </p:txBody>
      </p:sp>
      <p:sp>
        <p:nvSpPr>
          <p:cNvPr id="19" name="Shape 17"/>
          <p:cNvSpPr/>
          <p:nvPr/>
        </p:nvSpPr>
        <p:spPr>
          <a:xfrm>
            <a:off x="4846320" y="1371600"/>
            <a:ext cx="548640" cy="548640"/>
          </a:xfrm>
          <a:prstGeom prst="ellipse">
            <a:avLst/>
          </a:prstGeom>
          <a:solidFill>
            <a:srgbClr val="1789A8"/>
          </a:solidFill>
          <a:ln w="12700">
            <a:solidFill>
              <a:srgbClr val="1789A8"/>
            </a:solidFill>
            <a:prstDash val="solid"/>
          </a:ln>
        </p:spPr>
        <p:txBody>
          <a:bodyPr/>
          <a:p/>
        </p:txBody>
      </p:sp>
      <p:sp>
        <p:nvSpPr>
          <p:cNvPr id="20" name="Text 18"/>
          <p:cNvSpPr txBox="1"/>
          <p:nvPr/>
        </p:nvSpPr>
        <p:spPr>
          <a:xfrm>
            <a:off x="484632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txBox="1"/>
          <p:nvPr/>
        </p:nvSpPr>
        <p:spPr>
          <a:xfrm>
            <a:off x="4846320" y="2103120"/>
            <a:ext cx="1645920" cy="320040"/>
          </a:xfrm>
          <a:prstGeom prst="rect">
            <a:avLst/>
          </a:prstGeom>
          <a:noFill/>
          <a:ln/>
        </p:spPr>
        <p:txBody>
          <a:bodyPr wrap="square" lIns="0" tIns="0" rIns="0" bIns="0" rtlCol="0" anchor="t"/>
          <a:lstStyle/>
          <a:p>
            <a:pPr indent="0" marL="0">
              <a:buNone/>
            </a:pPr>
            <a:r>
              <a:rPr lang="en-US" sz="1600" b="1" dirty="0">
                <a:solidFill>
                  <a:srgbClr val="0B3C5D"/>
                </a:solidFill>
                <a:latin typeface="Calibri" pitchFamily="34" charset="0"/>
                <a:ea typeface="Calibri" pitchFamily="34" charset="-122"/>
                <a:cs typeface="Calibri" pitchFamily="34" charset="-120"/>
              </a:rPr>
              <a:t>Control Layer</a:t>
            </a:r>
            <a:endParaRPr lang="en-US" sz="1600" dirty="0"/>
          </a:p>
        </p:txBody>
      </p:sp>
      <p:sp>
        <p:nvSpPr>
          <p:cNvPr id="22" name="Text 20"/>
          <p:cNvSpPr txBox="1"/>
          <p:nvPr/>
        </p:nvSpPr>
        <p:spPr>
          <a:xfrm>
            <a:off x="4846320" y="2468880"/>
            <a:ext cx="1645920" cy="1143000"/>
          </a:xfrm>
          <a:prstGeom prst="rect">
            <a:avLst/>
          </a:prstGeom>
          <a:noFill/>
          <a:ln/>
        </p:spPr>
        <p:txBody>
          <a:bodyPr wrap="square" lIns="0" tIns="0" rIns="0" bIns="0" rtlCol="0" anchor="t"/>
          <a:lstStyle/>
          <a:p>
            <a:pPr indent="0" marL="0">
              <a:buNone/>
            </a:pPr>
            <a:r>
              <a:rPr lang="en-US" sz="1300" dirty="0">
                <a:solidFill>
                  <a:srgbClr val="1B2A35"/>
                </a:solidFill>
                <a:latin typeface="Calibri" pitchFamily="34" charset="0"/>
                <a:ea typeface="Calibri" pitchFamily="34" charset="-122"/>
                <a:cs typeface="Calibri" pitchFamily="34" charset="-120"/>
              </a:rPr>
              <a:t>ESP32 drives the relay (pump) and buzzer per programmed conditions</a:t>
            </a:r>
            <a:endParaRPr lang="en-US" sz="1300" dirty="0"/>
          </a:p>
        </p:txBody>
      </p:sp>
      <p:sp>
        <p:nvSpPr>
          <p:cNvPr id="23" name="Text 21"/>
          <p:cNvSpPr txBox="1"/>
          <p:nvPr/>
        </p:nvSpPr>
        <p:spPr>
          <a:xfrm>
            <a:off x="6583680" y="2011680"/>
            <a:ext cx="228600" cy="457200"/>
          </a:xfrm>
          <a:prstGeom prst="rect">
            <a:avLst/>
          </a:prstGeom>
          <a:noFill/>
          <a:ln/>
        </p:spPr>
        <p:txBody>
          <a:bodyPr wrap="square" lIns="0" tIns="0" rIns="0" bIns="0" rtlCol="0" anchor="ctr"/>
          <a:lstStyle/>
          <a:p>
            <a:pPr algn="ctr" indent="0" marL="0">
              <a:buNone/>
            </a:pPr>
            <a:r>
              <a:rPr lang="en-US" sz="2800" b="1" dirty="0">
                <a:solidFill>
                  <a:srgbClr val="1789A8"/>
                </a:solidFill>
              </a:rPr>
              <a:t>›</a:t>
            </a:r>
            <a:endParaRPr lang="en-US" sz="2800" dirty="0"/>
          </a:p>
        </p:txBody>
      </p:sp>
      <p:sp>
        <p:nvSpPr>
          <p:cNvPr id="24" name="Shape 22"/>
          <p:cNvSpPr/>
          <p:nvPr/>
        </p:nvSpPr>
        <p:spPr>
          <a:xfrm>
            <a:off x="6766560" y="1188720"/>
            <a:ext cx="1965960" cy="2468880"/>
          </a:xfrm>
          <a:prstGeom prst="roundRect">
            <a:avLst>
              <a:gd name="adj" fmla="val 3721"/>
            </a:avLst>
          </a:prstGeom>
          <a:solidFill>
            <a:srgbClr val="CDEBF3"/>
          </a:solidFill>
          <a:ln w="12700">
            <a:solidFill>
              <a:srgbClr val="CDEBF3"/>
            </a:solidFill>
            <a:prstDash val="solid"/>
          </a:ln>
        </p:spPr>
        <p:txBody>
          <a:bodyPr/>
          <a:p/>
        </p:txBody>
      </p:sp>
      <p:sp>
        <p:nvSpPr>
          <p:cNvPr id="25" name="Shape 23"/>
          <p:cNvSpPr/>
          <p:nvPr/>
        </p:nvSpPr>
        <p:spPr>
          <a:xfrm>
            <a:off x="6949440" y="1371600"/>
            <a:ext cx="548640" cy="548640"/>
          </a:xfrm>
          <a:prstGeom prst="ellipse">
            <a:avLst/>
          </a:prstGeom>
          <a:solidFill>
            <a:srgbClr val="0B3C5D"/>
          </a:solidFill>
          <a:ln w="12700">
            <a:solidFill>
              <a:srgbClr val="0B3C5D"/>
            </a:solidFill>
            <a:prstDash val="solid"/>
          </a:ln>
        </p:spPr>
        <p:txBody>
          <a:bodyPr/>
          <a:p/>
        </p:txBody>
      </p:sp>
      <p:sp>
        <p:nvSpPr>
          <p:cNvPr id="26" name="Text 24"/>
          <p:cNvSpPr txBox="1"/>
          <p:nvPr/>
        </p:nvSpPr>
        <p:spPr>
          <a:xfrm>
            <a:off x="6949440" y="1371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6949440" y="2103120"/>
            <a:ext cx="1645920" cy="320040"/>
          </a:xfrm>
          <a:prstGeom prst="rect">
            <a:avLst/>
          </a:prstGeom>
          <a:noFill/>
          <a:ln/>
        </p:spPr>
        <p:txBody>
          <a:bodyPr wrap="square" lIns="0" tIns="0" rIns="0" bIns="0" rtlCol="0" anchor="t"/>
          <a:lstStyle/>
          <a:p>
            <a:pPr indent="0" marL="0">
              <a:buNone/>
            </a:pPr>
            <a:r>
              <a:t>Cloud + Display Layer</a:t>
            </a:r>
            <a:endParaRPr lang="en-US" sz="1600" dirty="0"/>
          </a:p>
        </p:txBody>
      </p:sp>
      <p:sp>
        <p:nvSpPr>
          <p:cNvPr id="28" name="Text 26"/>
          <p:cNvSpPr txBox="1"/>
          <p:nvPr/>
        </p:nvSpPr>
        <p:spPr>
          <a:xfrm>
            <a:off x="6949440" y="2468880"/>
            <a:ext cx="1645920" cy="1143000"/>
          </a:xfrm>
          <a:prstGeom prst="rect">
            <a:avLst/>
          </a:prstGeom>
          <a:noFill/>
          <a:ln/>
        </p:spPr>
        <p:txBody>
          <a:bodyPr wrap="square" lIns="0" tIns="0" rIns="0" bIns="0" rtlCol="0" anchor="t"/>
          <a:lstStyle/>
          <a:p>
            <a:pPr indent="0" marL="0">
              <a:buNone/>
            </a:pPr>
            <a:r>
              <a:t>LCD / Serial + backend dashboard present readings and status</a:t>
            </a:r>
            <a:endParaRPr lang="en-US" sz="1300" dirty="0"/>
          </a:p>
        </p:txBody>
      </p:sp>
      <p:sp>
        <p:nvSpPr>
          <p:cNvPr id="29" name="Shape 27"/>
          <p:cNvSpPr/>
          <p:nvPr/>
        </p:nvSpPr>
        <p:spPr>
          <a:xfrm>
            <a:off x="457200" y="3840480"/>
            <a:ext cx="8229600" cy="640080"/>
          </a:xfrm>
          <a:prstGeom prst="roundRect">
            <a:avLst>
              <a:gd name="adj" fmla="val 11429"/>
            </a:avLst>
          </a:prstGeom>
          <a:solidFill>
            <a:srgbClr val="0B3C5D"/>
          </a:solidFill>
          <a:ln w="12700">
            <a:solidFill>
              <a:srgbClr val="0B3C5D"/>
            </a:solidFill>
            <a:prstDash val="solid"/>
          </a:ln>
        </p:spPr>
        <p:txBody>
          <a:bodyPr/>
          <a:p/>
        </p:txBody>
      </p:sp>
      <p:sp>
        <p:nvSpPr>
          <p:cNvPr id="30" name="Text 28"/>
          <p:cNvSpPr txBox="1"/>
          <p:nvPr/>
        </p:nvSpPr>
        <p:spPr>
          <a:xfrm>
            <a:off x="640080" y="3840480"/>
            <a:ext cx="7863840" cy="640080"/>
          </a:xfrm>
          <a:prstGeom prst="rect">
            <a:avLst/>
          </a:prstGeom>
          <a:noFill/>
          <a:ln/>
        </p:spPr>
        <p:txBody>
          <a:bodyPr wrap="square" lIns="0" tIns="0" rIns="0" bIns="0" rtlCol="0" anchor="ctr"/>
          <a:lstStyle/>
          <a:p>
            <a:pPr indent="0" marL="0">
              <a:buNone/>
              <a:defRPr sz="1200">
                <a:solidFill>
                  <a:srgbClr val="273443"/>
                </a:solidFill>
              </a:defRPr>
            </a:pPr>
            <a:r>
              <a:t>Telemetry: Sensors → ESP32 → HiveMQ Cloud → Node.js backend → PostgreSQL → dashboard/app | Commands return via MQTT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System Architecture Diagram</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04  ARCHITECTURE</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7</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pic>
        <p:nvPicPr>
          <p:cNvPr id="6" name="Image 0" descr="/tmp/claude-0/-home-claude/bc7d9d06-be43-5d53-854a-92ce87f34523/scratchpad/media/media/image1.png">    </p:cNvPr>
          <p:cNvPicPr>
            <a:picLocks noChangeAspect="1"/>
          </p:cNvPicPr>
          <p:nvPr/>
        </p:nvPicPr>
        <p:blipFill>
          <a:blip r:embed="rId1"/>
          <a:stretch>
            <a:fillRect/>
          </a:stretch>
        </p:blipFill>
        <p:spPr>
          <a:xfrm>
            <a:off x="457200" y="914400"/>
            <a:ext cx="5349240" cy="3566160"/>
          </a:xfrm>
          <a:prstGeom prst="rect">
            <a:avLst/>
          </a:prstGeom>
        </p:spPr>
      </p:pic>
      <p:sp>
        <p:nvSpPr>
          <p:cNvPr id="7" name="Shape 4"/>
          <p:cNvSpPr/>
          <p:nvPr/>
        </p:nvSpPr>
        <p:spPr>
          <a:xfrm>
            <a:off x="5989320" y="914400"/>
            <a:ext cx="2697480" cy="822960"/>
          </a:xfrm>
          <a:prstGeom prst="roundRect">
            <a:avLst>
              <a:gd name="adj" fmla="val 8889"/>
            </a:avLst>
          </a:prstGeom>
          <a:solidFill>
            <a:srgbClr val="EEF7FA"/>
          </a:solidFill>
          <a:ln w="12700">
            <a:solidFill>
              <a:srgbClr val="EEF7FA"/>
            </a:solidFill>
            <a:prstDash val="solid"/>
          </a:ln>
        </p:spPr>
        <p:txBody>
          <a:bodyPr/>
          <a:p/>
        </p:txBody>
      </p:sp>
      <p:sp>
        <p:nvSpPr>
          <p:cNvPr id="8" name="Text 5"/>
          <p:cNvSpPr txBox="1"/>
          <p:nvPr/>
        </p:nvSpPr>
        <p:spPr>
          <a:xfrm>
            <a:off x="6126480" y="969264"/>
            <a:ext cx="2468880" cy="237744"/>
          </a:xfrm>
          <a:prstGeom prst="rect">
            <a:avLst/>
          </a:prstGeom>
          <a:noFill/>
          <a:ln/>
        </p:spPr>
        <p:txBody>
          <a:bodyPr wrap="square" lIns="0" tIns="0" rIns="0" bIns="0" rtlCol="0" anchor="t"/>
          <a:lstStyle/>
          <a:p>
            <a:pPr indent="0" marL="0">
              <a:buNone/>
            </a:pPr>
            <a:r>
              <a:rPr lang="en-US" sz="1400" b="1" dirty="0">
                <a:solidFill>
                  <a:srgbClr val="1789A8"/>
                </a:solidFill>
                <a:latin typeface="Calibri" pitchFamily="34" charset="0"/>
                <a:ea typeface="Calibri" pitchFamily="34" charset="-122"/>
                <a:cs typeface="Calibri" pitchFamily="34" charset="-120"/>
              </a:rPr>
              <a:t>Level</a:t>
            </a:r>
            <a:endParaRPr lang="en-US" sz="1400" dirty="0"/>
          </a:p>
        </p:txBody>
      </p:sp>
      <p:sp>
        <p:nvSpPr>
          <p:cNvPr id="9" name="Text 6"/>
          <p:cNvSpPr txBox="1"/>
          <p:nvPr/>
        </p:nvSpPr>
        <p:spPr>
          <a:xfrm>
            <a:off x="6126480" y="1225296"/>
            <a:ext cx="2468880" cy="502920"/>
          </a:xfrm>
          <a:prstGeom prst="rect">
            <a:avLst/>
          </a:prstGeom>
          <a:noFill/>
          <a:ln/>
        </p:spPr>
        <p:txBody>
          <a:bodyPr wrap="square" lIns="0" tIns="0" rIns="0" bIns="0" rtlCol="0" anchor="t"/>
          <a:lstStyle/>
          <a:p>
            <a:pPr indent="0" marL="0">
              <a:buNone/>
            </a:pPr>
            <a:r>
              <a:rPr lang="en-US" sz="1200" dirty="0">
                <a:solidFill>
                  <a:srgbClr val="1B2A35"/>
                </a:solidFill>
                <a:latin typeface="Calibri" pitchFamily="34" charset="0"/>
                <a:ea typeface="Calibri" pitchFamily="34" charset="-122"/>
                <a:cs typeface="Calibri" pitchFamily="34" charset="-120"/>
              </a:rPr>
              <a:t>Ultrasonic echo time gives distance; ESP32 converts it to a percentage.</a:t>
            </a:r>
            <a:endParaRPr lang="en-US" sz="1200" dirty="0"/>
          </a:p>
        </p:txBody>
      </p:sp>
      <p:sp>
        <p:nvSpPr>
          <p:cNvPr id="10" name="Shape 7"/>
          <p:cNvSpPr/>
          <p:nvPr/>
        </p:nvSpPr>
        <p:spPr>
          <a:xfrm>
            <a:off x="5989320" y="1828800"/>
            <a:ext cx="2697480" cy="822960"/>
          </a:xfrm>
          <a:prstGeom prst="roundRect">
            <a:avLst>
              <a:gd name="adj" fmla="val 8889"/>
            </a:avLst>
          </a:prstGeom>
          <a:solidFill>
            <a:srgbClr val="EEF7FA"/>
          </a:solidFill>
          <a:ln w="12700">
            <a:solidFill>
              <a:srgbClr val="EEF7FA"/>
            </a:solidFill>
            <a:prstDash val="solid"/>
          </a:ln>
        </p:spPr>
        <p:txBody>
          <a:bodyPr/>
          <a:p/>
        </p:txBody>
      </p:sp>
      <p:sp>
        <p:nvSpPr>
          <p:cNvPr id="11" name="Text 8"/>
          <p:cNvSpPr txBox="1"/>
          <p:nvPr/>
        </p:nvSpPr>
        <p:spPr>
          <a:xfrm>
            <a:off x="6126480" y="1883664"/>
            <a:ext cx="2468880" cy="237744"/>
          </a:xfrm>
          <a:prstGeom prst="rect">
            <a:avLst/>
          </a:prstGeom>
          <a:noFill/>
          <a:ln/>
        </p:spPr>
        <p:txBody>
          <a:bodyPr wrap="square" lIns="0" tIns="0" rIns="0" bIns="0" rtlCol="0" anchor="t"/>
          <a:lstStyle/>
          <a:p>
            <a:pPr indent="0" marL="0">
              <a:buNone/>
            </a:pPr>
            <a:r>
              <a:rPr lang="en-US" sz="1400" b="1" dirty="0">
                <a:solidFill>
                  <a:srgbClr val="1789A8"/>
                </a:solidFill>
                <a:latin typeface="Calibri" pitchFamily="34" charset="0"/>
                <a:ea typeface="Calibri" pitchFamily="34" charset="-122"/>
                <a:cs typeface="Calibri" pitchFamily="34" charset="-120"/>
              </a:rPr>
              <a:t>Flow</a:t>
            </a:r>
            <a:endParaRPr lang="en-US" sz="1400" dirty="0"/>
          </a:p>
        </p:txBody>
      </p:sp>
      <p:sp>
        <p:nvSpPr>
          <p:cNvPr id="12" name="Text 9"/>
          <p:cNvSpPr txBox="1"/>
          <p:nvPr/>
        </p:nvSpPr>
        <p:spPr>
          <a:xfrm>
            <a:off x="6126480" y="2139696"/>
            <a:ext cx="2468880" cy="502920"/>
          </a:xfrm>
          <a:prstGeom prst="rect">
            <a:avLst/>
          </a:prstGeom>
          <a:noFill/>
          <a:ln/>
        </p:spPr>
        <p:txBody>
          <a:bodyPr wrap="square" lIns="0" tIns="0" rIns="0" bIns="0" rtlCol="0" anchor="t"/>
          <a:lstStyle/>
          <a:p>
            <a:pPr indent="0" marL="0">
              <a:buNone/>
            </a:pPr>
            <a:r>
              <a:rPr lang="en-US" sz="1200" dirty="0">
                <a:solidFill>
                  <a:srgbClr val="1B2A35"/>
                </a:solidFill>
                <a:latin typeface="Calibri" pitchFamily="34" charset="0"/>
                <a:ea typeface="Calibri" pitchFamily="34" charset="-122"/>
                <a:cs typeface="Calibri" pitchFamily="34" charset="-120"/>
              </a:rPr>
              <a:t>YF-402 pulses are counted to get flow rate and total volume.</a:t>
            </a:r>
            <a:endParaRPr lang="en-US" sz="1200" dirty="0"/>
          </a:p>
        </p:txBody>
      </p:sp>
      <p:sp>
        <p:nvSpPr>
          <p:cNvPr id="13" name="Shape 10"/>
          <p:cNvSpPr/>
          <p:nvPr/>
        </p:nvSpPr>
        <p:spPr>
          <a:xfrm>
            <a:off x="5989320" y="2743200"/>
            <a:ext cx="2697480" cy="822960"/>
          </a:xfrm>
          <a:prstGeom prst="roundRect">
            <a:avLst>
              <a:gd name="adj" fmla="val 8889"/>
            </a:avLst>
          </a:prstGeom>
          <a:solidFill>
            <a:srgbClr val="EEF7FA"/>
          </a:solidFill>
          <a:ln w="12700">
            <a:solidFill>
              <a:srgbClr val="EEF7FA"/>
            </a:solidFill>
            <a:prstDash val="solid"/>
          </a:ln>
        </p:spPr>
        <p:txBody>
          <a:bodyPr/>
          <a:p/>
        </p:txBody>
      </p:sp>
      <p:sp>
        <p:nvSpPr>
          <p:cNvPr id="14" name="Text 11"/>
          <p:cNvSpPr txBox="1"/>
          <p:nvPr/>
        </p:nvSpPr>
        <p:spPr>
          <a:xfrm>
            <a:off x="6126480" y="2798064"/>
            <a:ext cx="2468880" cy="237744"/>
          </a:xfrm>
          <a:prstGeom prst="rect">
            <a:avLst/>
          </a:prstGeom>
          <a:noFill/>
          <a:ln/>
        </p:spPr>
        <p:txBody>
          <a:bodyPr wrap="square" lIns="0" tIns="0" rIns="0" bIns="0" rtlCol="0" anchor="t"/>
          <a:lstStyle/>
          <a:p>
            <a:pPr indent="0" marL="0">
              <a:buNone/>
            </a:pPr>
            <a:r>
              <a:rPr lang="en-US" sz="1400" b="1" dirty="0">
                <a:solidFill>
                  <a:srgbClr val="1789A8"/>
                </a:solidFill>
                <a:latin typeface="Calibri" pitchFamily="34" charset="0"/>
                <a:ea typeface="Calibri" pitchFamily="34" charset="-122"/>
                <a:cs typeface="Calibri" pitchFamily="34" charset="-120"/>
              </a:rPr>
              <a:t>TDS</a:t>
            </a:r>
            <a:endParaRPr lang="en-US" sz="1400" dirty="0"/>
          </a:p>
        </p:txBody>
      </p:sp>
      <p:sp>
        <p:nvSpPr>
          <p:cNvPr id="15" name="Text 12"/>
          <p:cNvSpPr txBox="1"/>
          <p:nvPr/>
        </p:nvSpPr>
        <p:spPr>
          <a:xfrm>
            <a:off x="6126480" y="3054096"/>
            <a:ext cx="2468880" cy="502920"/>
          </a:xfrm>
          <a:prstGeom prst="rect">
            <a:avLst/>
          </a:prstGeom>
          <a:noFill/>
          <a:ln/>
        </p:spPr>
        <p:txBody>
          <a:bodyPr wrap="square" lIns="0" tIns="0" rIns="0" bIns="0" rtlCol="0" anchor="t"/>
          <a:lstStyle/>
          <a:p>
            <a:pPr indent="0" marL="0">
              <a:buNone/>
            </a:pPr>
            <a:r>
              <a:rPr lang="en-US" sz="1200" dirty="0">
                <a:solidFill>
                  <a:srgbClr val="1B2A35"/>
                </a:solidFill>
                <a:latin typeface="Calibri" pitchFamily="34" charset="0"/>
                <a:ea typeface="Calibri" pitchFamily="34" charset="-122"/>
                <a:cs typeface="Calibri" pitchFamily="34" charset="-120"/>
              </a:rPr>
              <a:t>Analog signal on an ADC pin is converted to ppm.</a:t>
            </a:r>
            <a:endParaRPr lang="en-US" sz="1200" dirty="0"/>
          </a:p>
        </p:txBody>
      </p:sp>
      <p:sp>
        <p:nvSpPr>
          <p:cNvPr id="16" name="Shape 13"/>
          <p:cNvSpPr/>
          <p:nvPr/>
        </p:nvSpPr>
        <p:spPr>
          <a:xfrm>
            <a:off x="5989320" y="3657600"/>
            <a:ext cx="2697480" cy="822960"/>
          </a:xfrm>
          <a:prstGeom prst="roundRect">
            <a:avLst>
              <a:gd name="adj" fmla="val 8889"/>
            </a:avLst>
          </a:prstGeom>
          <a:solidFill>
            <a:srgbClr val="EEF7FA"/>
          </a:solidFill>
          <a:ln w="12700">
            <a:solidFill>
              <a:srgbClr val="EEF7FA"/>
            </a:solidFill>
            <a:prstDash val="solid"/>
          </a:ln>
        </p:spPr>
        <p:txBody>
          <a:bodyPr/>
          <a:p/>
        </p:txBody>
      </p:sp>
      <p:sp>
        <p:nvSpPr>
          <p:cNvPr id="17" name="Text 14"/>
          <p:cNvSpPr txBox="1"/>
          <p:nvPr/>
        </p:nvSpPr>
        <p:spPr>
          <a:xfrm>
            <a:off x="6126480" y="3712464"/>
            <a:ext cx="2468880" cy="237744"/>
          </a:xfrm>
          <a:prstGeom prst="rect">
            <a:avLst/>
          </a:prstGeom>
          <a:noFill/>
          <a:ln/>
        </p:spPr>
        <p:txBody>
          <a:bodyPr wrap="square" lIns="0" tIns="0" rIns="0" bIns="0" rtlCol="0" anchor="t"/>
          <a:lstStyle/>
          <a:p>
            <a:pPr indent="0" marL="0">
              <a:buNone/>
              <a:defRPr sz="1500" b="1">
                <a:solidFill>
                  <a:srgbClr val="12263F"/>
                </a:solidFill>
              </a:defRPr>
            </a:pPr>
            <a:r>
              <a:t>IoT outputs</a:t>
            </a:r>
            <a:endParaRPr lang="en-US" sz="1400" dirty="0"/>
          </a:p>
        </p:txBody>
      </p:sp>
      <p:sp>
        <p:nvSpPr>
          <p:cNvPr id="18" name="Text 15"/>
          <p:cNvSpPr txBox="1"/>
          <p:nvPr/>
        </p:nvSpPr>
        <p:spPr>
          <a:xfrm>
            <a:off x="6126480" y="3968496"/>
            <a:ext cx="2468880" cy="502920"/>
          </a:xfrm>
          <a:prstGeom prst="rect">
            <a:avLst/>
          </a:prstGeom>
          <a:noFill/>
          <a:ln/>
        </p:spPr>
        <p:txBody>
          <a:bodyPr wrap="square" lIns="0" tIns="0" rIns="0" bIns="0" rtlCol="0" anchor="t"/>
          <a:lstStyle/>
          <a:p>
            <a:pPr indent="0" marL="0">
              <a:buNone/>
              <a:defRPr sz="1200" b="0">
                <a:solidFill>
                  <a:srgbClr val="273443"/>
                </a:solidFill>
              </a:defRPr>
            </a:pPr>
            <a:r>
              <a:t>LCD + buzzer provide local feedback; MQTT sends telemetry to the backend and relays remote commands to the ESP32.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ESP32 Pin Connections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05  HARDWARE</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8</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05840"/>
            <a:ext cx="2651760" cy="1481328"/>
          </a:xfrm>
          <a:prstGeom prst="roundRect">
            <a:avLst>
              <a:gd name="adj" fmla="val 4938"/>
            </a:avLst>
          </a:prstGeom>
          <a:solidFill>
            <a:srgbClr val="EEF7FA"/>
          </a:solidFill>
          <a:ln w="12700">
            <a:solidFill>
              <a:srgbClr val="EEF7FA"/>
            </a:solidFill>
            <a:prstDash val="solid"/>
          </a:ln>
        </p:spPr>
      </p:sp>
      <p:sp>
        <p:nvSpPr>
          <p:cNvPr id="7" name="Text 5"/>
          <p:cNvSpPr txBox="1"/>
          <p:nvPr/>
        </p:nvSpPr>
        <p:spPr>
          <a:xfrm>
            <a:off x="594360" y="10972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Ultrasonic HC-SR04</a:t>
            </a:r>
            <a:endParaRPr lang="en-US" sz="1400" dirty="0"/>
          </a:p>
        </p:txBody>
      </p:sp>
      <p:sp>
        <p:nvSpPr>
          <p:cNvPr id="8" name="Text 6"/>
          <p:cNvSpPr txBox="1"/>
          <p:nvPr/>
        </p:nvSpPr>
        <p:spPr>
          <a:xfrm>
            <a:off x="594360" y="14447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TRIG → GPIO 5</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ECHO → GPIO 18 (via divider / level shifter)</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VCC, GND</a:t>
            </a:r>
            <a:endParaRPr lang="en-US" sz="1200" dirty="0"/>
          </a:p>
        </p:txBody>
      </p:sp>
      <p:sp>
        <p:nvSpPr>
          <p:cNvPr id="9" name="Shape 7"/>
          <p:cNvSpPr/>
          <p:nvPr/>
        </p:nvSpPr>
        <p:spPr>
          <a:xfrm>
            <a:off x="3246120" y="1005840"/>
            <a:ext cx="2651760" cy="1481328"/>
          </a:xfrm>
          <a:prstGeom prst="roundRect">
            <a:avLst>
              <a:gd name="adj" fmla="val 4938"/>
            </a:avLst>
          </a:prstGeom>
          <a:solidFill>
            <a:srgbClr val="EEF7FA"/>
          </a:solidFill>
          <a:ln w="12700">
            <a:solidFill>
              <a:srgbClr val="EEF7FA"/>
            </a:solidFill>
            <a:prstDash val="solid"/>
          </a:ln>
        </p:spPr>
      </p:sp>
      <p:sp>
        <p:nvSpPr>
          <p:cNvPr id="10" name="Text 8"/>
          <p:cNvSpPr txBox="1"/>
          <p:nvPr/>
        </p:nvSpPr>
        <p:spPr>
          <a:xfrm>
            <a:off x="3383280" y="10972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YF-402 flow sensor</a:t>
            </a:r>
            <a:endParaRPr lang="en-US" sz="1400" dirty="0"/>
          </a:p>
        </p:txBody>
      </p:sp>
      <p:sp>
        <p:nvSpPr>
          <p:cNvPr id="11" name="Text 9"/>
          <p:cNvSpPr txBox="1"/>
          <p:nvPr/>
        </p:nvSpPr>
        <p:spPr>
          <a:xfrm>
            <a:off x="3383280" y="14447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Signal → GPIO 27 (3.3 V-safe)</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VCC per sensor spec</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GND common</a:t>
            </a:r>
            <a:endParaRPr lang="en-US" sz="1200" dirty="0"/>
          </a:p>
        </p:txBody>
      </p:sp>
      <p:sp>
        <p:nvSpPr>
          <p:cNvPr id="12" name="Shape 10"/>
          <p:cNvSpPr/>
          <p:nvPr/>
        </p:nvSpPr>
        <p:spPr>
          <a:xfrm>
            <a:off x="6035040" y="1005840"/>
            <a:ext cx="2651760" cy="1481328"/>
          </a:xfrm>
          <a:prstGeom prst="roundRect">
            <a:avLst>
              <a:gd name="adj" fmla="val 4938"/>
            </a:avLst>
          </a:prstGeom>
          <a:solidFill>
            <a:srgbClr val="EEF7FA"/>
          </a:solidFill>
          <a:ln w="12700">
            <a:solidFill>
              <a:srgbClr val="EEF7FA"/>
            </a:solidFill>
            <a:prstDash val="solid"/>
          </a:ln>
        </p:spPr>
      </p:sp>
      <p:sp>
        <p:nvSpPr>
          <p:cNvPr id="13" name="Text 11"/>
          <p:cNvSpPr txBox="1"/>
          <p:nvPr/>
        </p:nvSpPr>
        <p:spPr>
          <a:xfrm>
            <a:off x="6172200" y="10972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TDS module</a:t>
            </a:r>
            <a:endParaRPr lang="en-US" sz="1400" dirty="0"/>
          </a:p>
        </p:txBody>
      </p:sp>
      <p:sp>
        <p:nvSpPr>
          <p:cNvPr id="14" name="Text 12"/>
          <p:cNvSpPr txBox="1"/>
          <p:nvPr/>
        </p:nvSpPr>
        <p:spPr>
          <a:xfrm>
            <a:off x="6172200" y="14447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Analog out → GPIO 34</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VCC (+) supported supply</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GND (−) common</a:t>
            </a:r>
            <a:endParaRPr lang="en-US" sz="1200" dirty="0"/>
          </a:p>
        </p:txBody>
      </p:sp>
      <p:sp>
        <p:nvSpPr>
          <p:cNvPr id="15" name="Shape 13"/>
          <p:cNvSpPr/>
          <p:nvPr/>
        </p:nvSpPr>
        <p:spPr>
          <a:xfrm>
            <a:off x="457200" y="2606040"/>
            <a:ext cx="2651760" cy="1481328"/>
          </a:xfrm>
          <a:prstGeom prst="roundRect">
            <a:avLst>
              <a:gd name="adj" fmla="val 4938"/>
            </a:avLst>
          </a:prstGeom>
          <a:solidFill>
            <a:srgbClr val="CDEBF3"/>
          </a:solidFill>
          <a:ln w="12700">
            <a:solidFill>
              <a:srgbClr val="CDEBF3"/>
            </a:solidFill>
            <a:prstDash val="solid"/>
          </a:ln>
        </p:spPr>
      </p:sp>
      <p:sp>
        <p:nvSpPr>
          <p:cNvPr id="16" name="Text 14"/>
          <p:cNvSpPr txBox="1"/>
          <p:nvPr/>
        </p:nvSpPr>
        <p:spPr>
          <a:xfrm>
            <a:off x="594360" y="26974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I²C LCD 16×2</a:t>
            </a:r>
            <a:endParaRPr lang="en-US" sz="1400" dirty="0"/>
          </a:p>
        </p:txBody>
      </p:sp>
      <p:sp>
        <p:nvSpPr>
          <p:cNvPr id="17" name="Text 15"/>
          <p:cNvSpPr txBox="1"/>
          <p:nvPr/>
        </p:nvSpPr>
        <p:spPr>
          <a:xfrm>
            <a:off x="594360" y="30449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SDA → GPIO 21</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SCL → GPIO 22</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VCC per module, GND common</a:t>
            </a:r>
            <a:endParaRPr lang="en-US" sz="1200" dirty="0"/>
          </a:p>
        </p:txBody>
      </p:sp>
      <p:sp>
        <p:nvSpPr>
          <p:cNvPr id="18" name="Shape 16"/>
          <p:cNvSpPr/>
          <p:nvPr/>
        </p:nvSpPr>
        <p:spPr>
          <a:xfrm>
            <a:off x="3246120" y="2606040"/>
            <a:ext cx="2651760" cy="1481328"/>
          </a:xfrm>
          <a:prstGeom prst="roundRect">
            <a:avLst>
              <a:gd name="adj" fmla="val 4938"/>
            </a:avLst>
          </a:prstGeom>
          <a:solidFill>
            <a:srgbClr val="CDEBF3"/>
          </a:solidFill>
          <a:ln w="12700">
            <a:solidFill>
              <a:srgbClr val="CDEBF3"/>
            </a:solidFill>
            <a:prstDash val="solid"/>
          </a:ln>
        </p:spPr>
      </p:sp>
      <p:sp>
        <p:nvSpPr>
          <p:cNvPr id="19" name="Text 17"/>
          <p:cNvSpPr txBox="1"/>
          <p:nvPr/>
        </p:nvSpPr>
        <p:spPr>
          <a:xfrm>
            <a:off x="3383280" y="26974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Relay module</a:t>
            </a:r>
            <a:endParaRPr lang="en-US" sz="1400" dirty="0"/>
          </a:p>
        </p:txBody>
      </p:sp>
      <p:sp>
        <p:nvSpPr>
          <p:cNvPr id="20" name="Text 18"/>
          <p:cNvSpPr txBox="1"/>
          <p:nvPr/>
        </p:nvSpPr>
        <p:spPr>
          <a:xfrm>
            <a:off x="3383280" y="30449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IN → GPIO 26</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VCC per module</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GND common</a:t>
            </a:r>
            <a:endParaRPr lang="en-US" sz="1200" dirty="0"/>
          </a:p>
        </p:txBody>
      </p:sp>
      <p:sp>
        <p:nvSpPr>
          <p:cNvPr id="21" name="Shape 19"/>
          <p:cNvSpPr/>
          <p:nvPr/>
        </p:nvSpPr>
        <p:spPr>
          <a:xfrm>
            <a:off x="6035040" y="2606040"/>
            <a:ext cx="2651760" cy="1481328"/>
          </a:xfrm>
          <a:prstGeom prst="roundRect">
            <a:avLst>
              <a:gd name="adj" fmla="val 4938"/>
            </a:avLst>
          </a:prstGeom>
          <a:solidFill>
            <a:srgbClr val="CDEBF3"/>
          </a:solidFill>
          <a:ln w="12700">
            <a:solidFill>
              <a:srgbClr val="CDEBF3"/>
            </a:solidFill>
            <a:prstDash val="solid"/>
          </a:ln>
        </p:spPr>
      </p:sp>
      <p:sp>
        <p:nvSpPr>
          <p:cNvPr id="22" name="Text 20"/>
          <p:cNvSpPr txBox="1"/>
          <p:nvPr/>
        </p:nvSpPr>
        <p:spPr>
          <a:xfrm>
            <a:off x="6172200" y="2697480"/>
            <a:ext cx="237744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Buzzer</a:t>
            </a:r>
            <a:endParaRPr lang="en-US" sz="1400" dirty="0"/>
          </a:p>
        </p:txBody>
      </p:sp>
      <p:sp>
        <p:nvSpPr>
          <p:cNvPr id="23" name="Text 21"/>
          <p:cNvSpPr txBox="1"/>
          <p:nvPr/>
        </p:nvSpPr>
        <p:spPr>
          <a:xfrm>
            <a:off x="6172200" y="3044952"/>
            <a:ext cx="2377440" cy="1005840"/>
          </a:xfrm>
          <a:prstGeom prst="rect">
            <a:avLst/>
          </a:prstGeom>
          <a:noFill/>
          <a:ln/>
        </p:spPr>
        <p:txBody>
          <a:bodyPr wrap="square" lIns="0" tIns="0" rIns="0" bIns="0" rtlCol="0" anchor="t"/>
          <a:lstStyle/>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 → GPIO 25, if current-compatible</a:t>
            </a:r>
            <a:endParaRPr lang="en-US" sz="1200" dirty="0"/>
          </a:p>
          <a:p>
            <a:pPr indent="0" marL="0">
              <a:spcAft>
                <a:spcPts val="300"/>
              </a:spcAft>
              <a:buNone/>
            </a:pPr>
            <a:r>
              <a:rPr lang="en-US" sz="1200" dirty="0">
                <a:solidFill>
                  <a:srgbClr val="1B2A35"/>
                </a:solidFill>
                <a:latin typeface="Calibri" pitchFamily="34" charset="0"/>
                <a:ea typeface="Calibri" pitchFamily="34" charset="-122"/>
                <a:cs typeface="Calibri" pitchFamily="34" charset="-120"/>
              </a:rPr>
              <a:t>(−) → GND</a:t>
            </a:r>
            <a:endParaRPr lang="en-US" sz="1200" dirty="0"/>
          </a:p>
        </p:txBody>
      </p:sp>
      <p:sp>
        <p:nvSpPr>
          <p:cNvPr id="24" name="Shape 22"/>
          <p:cNvSpPr/>
          <p:nvPr/>
        </p:nvSpPr>
        <p:spPr>
          <a:xfrm>
            <a:off x="457200" y="4251960"/>
            <a:ext cx="8229600" cy="411480"/>
          </a:xfrm>
          <a:prstGeom prst="roundRect">
            <a:avLst>
              <a:gd name="adj" fmla="val 17778"/>
            </a:avLst>
          </a:prstGeom>
          <a:solidFill>
            <a:srgbClr val="0B3C5D"/>
          </a:solidFill>
          <a:ln w="12700">
            <a:solidFill>
              <a:srgbClr val="0B3C5D"/>
            </a:solidFill>
            <a:prstDash val="solid"/>
          </a:ln>
        </p:spPr>
      </p:sp>
      <p:sp>
        <p:nvSpPr>
          <p:cNvPr id="25" name="Text 23"/>
          <p:cNvSpPr txBox="1"/>
          <p:nvPr/>
        </p:nvSpPr>
        <p:spPr>
          <a:xfrm>
            <a:off x="640080" y="4251960"/>
            <a:ext cx="786384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Verify actual component labels and 3.3 V compatibility before powering the circuit.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Circuit Diagram and Relay–Pump Wiring</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05  HARDWARE</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9</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pic>
        <p:nvPicPr>
          <p:cNvPr id="6" name="Image 0" descr="/tmp/claude-0/-home-claude/bc7d9d06-be43-5d53-854a-92ce87f34523/scratchpad/media/media/image2.png">    </p:cNvPr>
          <p:cNvPicPr>
            <a:picLocks noChangeAspect="1"/>
          </p:cNvPicPr>
          <p:nvPr/>
        </p:nvPicPr>
        <p:blipFill>
          <a:blip r:embed="rId1"/>
          <a:stretch>
            <a:fillRect/>
          </a:stretch>
        </p:blipFill>
        <p:spPr>
          <a:xfrm>
            <a:off x="457200" y="914400"/>
            <a:ext cx="5349240" cy="3566160"/>
          </a:xfrm>
          <a:prstGeom prst="rect">
            <a:avLst/>
          </a:prstGeom>
        </p:spPr>
      </p:pic>
      <p:sp>
        <p:nvSpPr>
          <p:cNvPr id="7" name="Shape 4"/>
          <p:cNvSpPr/>
          <p:nvPr/>
        </p:nvSpPr>
        <p:spPr>
          <a:xfrm>
            <a:off x="5989320" y="914400"/>
            <a:ext cx="2697480" cy="3566160"/>
          </a:xfrm>
          <a:prstGeom prst="roundRect">
            <a:avLst>
              <a:gd name="adj" fmla="val 2712"/>
            </a:avLst>
          </a:prstGeom>
          <a:solidFill>
            <a:srgbClr val="EEF7FA"/>
          </a:solidFill>
          <a:ln w="12700">
            <a:solidFill>
              <a:srgbClr val="EEF7FA"/>
            </a:solidFill>
            <a:prstDash val="solid"/>
          </a:ln>
        </p:spPr>
      </p:sp>
      <p:sp>
        <p:nvSpPr>
          <p:cNvPr id="8" name="Text 5"/>
          <p:cNvSpPr txBox="1"/>
          <p:nvPr/>
        </p:nvSpPr>
        <p:spPr>
          <a:xfrm>
            <a:off x="6126480" y="1005840"/>
            <a:ext cx="24688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Relay and pump</a:t>
            </a:r>
            <a:endParaRPr lang="en-US" sz="1500" dirty="0"/>
          </a:p>
        </p:txBody>
      </p:sp>
      <p:sp>
        <p:nvSpPr>
          <p:cNvPr id="9" name="Text 6"/>
          <p:cNvSpPr txBox="1"/>
          <p:nvPr/>
        </p:nvSpPr>
        <p:spPr>
          <a:xfrm>
            <a:off x="6126480" y="1371600"/>
            <a:ext cx="246888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Relay acts as an electrically controlled switch</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Control input on GPIO 26</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Pump wired through relay COM and NO contacts</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ESP32 drives only the relay input; pump has its own rated supply</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Test relay behaviour before connecting the pump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Methodology Overview</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06  METHODOLOGY</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10</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pic>
        <p:nvPicPr>
          <p:cNvPr id="6" name="Image 0" descr="/tmp/claude-0/-home-claude/bc7d9d06-be43-5d53-854a-92ce87f34523/scratchpad/media/media/image3.png">    </p:cNvPr>
          <p:cNvPicPr>
            <a:picLocks noChangeAspect="1"/>
          </p:cNvPicPr>
          <p:nvPr/>
        </p:nvPicPr>
        <p:blipFill>
          <a:blip r:embed="rId1"/>
          <a:stretch>
            <a:fillRect/>
          </a:stretch>
        </p:blipFill>
        <p:spPr>
          <a:xfrm>
            <a:off x="457200" y="914400"/>
            <a:ext cx="5486400" cy="3657600"/>
          </a:xfrm>
          <a:prstGeom prst="rect">
            <a:avLst/>
          </a:prstGeom>
        </p:spPr>
      </p:pic>
      <p:sp>
        <p:nvSpPr>
          <p:cNvPr id="7" name="Shape 4"/>
          <p:cNvSpPr/>
          <p:nvPr/>
        </p:nvSpPr>
        <p:spPr>
          <a:xfrm>
            <a:off x="6126480" y="914400"/>
            <a:ext cx="2560320" cy="3657600"/>
          </a:xfrm>
          <a:prstGeom prst="roundRect">
            <a:avLst>
              <a:gd name="adj" fmla="val 2857"/>
            </a:avLst>
          </a:prstGeom>
          <a:solidFill>
            <a:srgbClr val="EEF7FA"/>
          </a:solidFill>
          <a:ln w="12700">
            <a:solidFill>
              <a:srgbClr val="EEF7FA"/>
            </a:solidFill>
            <a:prstDash val="solid"/>
          </a:ln>
        </p:spPr>
      </p:sp>
      <p:sp>
        <p:nvSpPr>
          <p:cNvPr id="8" name="Shape 5"/>
          <p:cNvSpPr/>
          <p:nvPr/>
        </p:nvSpPr>
        <p:spPr>
          <a:xfrm>
            <a:off x="6263640" y="1051560"/>
            <a:ext cx="365760" cy="365760"/>
          </a:xfrm>
          <a:prstGeom prst="ellipse">
            <a:avLst/>
          </a:prstGeom>
          <a:solidFill>
            <a:srgbClr val="1789A8"/>
          </a:solidFill>
          <a:ln w="12700">
            <a:solidFill>
              <a:srgbClr val="1789A8"/>
            </a:solidFill>
            <a:prstDash val="solid"/>
          </a:ln>
        </p:spPr>
      </p:sp>
      <p:sp>
        <p:nvSpPr>
          <p:cNvPr id="9" name="Text 6"/>
          <p:cNvSpPr txBox="1"/>
          <p:nvPr/>
        </p:nvSpPr>
        <p:spPr>
          <a:xfrm>
            <a:off x="6263640" y="1051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6766560" y="1005840"/>
            <a:ext cx="1828800" cy="256032"/>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Initialise</a:t>
            </a:r>
            <a:endParaRPr lang="en-US" sz="1400" dirty="0"/>
          </a:p>
        </p:txBody>
      </p:sp>
      <p:sp>
        <p:nvSpPr>
          <p:cNvPr id="11" name="Text 8"/>
          <p:cNvSpPr txBox="1"/>
          <p:nvPr/>
        </p:nvSpPr>
        <p:spPr>
          <a:xfrm>
            <a:off x="6766560" y="1280160"/>
            <a:ext cx="1828800" cy="54864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GPIOs, LCD, ADC, flow interrupt; relay and buzzer OFF</a:t>
            </a:r>
            <a:endParaRPr lang="en-US" sz="1150" dirty="0"/>
          </a:p>
        </p:txBody>
      </p:sp>
      <p:sp>
        <p:nvSpPr>
          <p:cNvPr id="12" name="Shape 9"/>
          <p:cNvSpPr/>
          <p:nvPr/>
        </p:nvSpPr>
        <p:spPr>
          <a:xfrm>
            <a:off x="6263640" y="1938528"/>
            <a:ext cx="365760" cy="365760"/>
          </a:xfrm>
          <a:prstGeom prst="ellipse">
            <a:avLst/>
          </a:prstGeom>
          <a:solidFill>
            <a:srgbClr val="1789A8"/>
          </a:solidFill>
          <a:ln w="12700">
            <a:solidFill>
              <a:srgbClr val="1789A8"/>
            </a:solidFill>
            <a:prstDash val="solid"/>
          </a:ln>
        </p:spPr>
      </p:sp>
      <p:sp>
        <p:nvSpPr>
          <p:cNvPr id="13" name="Text 10"/>
          <p:cNvSpPr txBox="1"/>
          <p:nvPr/>
        </p:nvSpPr>
        <p:spPr>
          <a:xfrm>
            <a:off x="6263640" y="1938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6766560" y="1892808"/>
            <a:ext cx="1828800" cy="256032"/>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Acquire</a:t>
            </a:r>
            <a:endParaRPr lang="en-US" sz="1400" dirty="0"/>
          </a:p>
        </p:txBody>
      </p:sp>
      <p:sp>
        <p:nvSpPr>
          <p:cNvPr id="15" name="Text 12"/>
          <p:cNvSpPr txBox="1"/>
          <p:nvPr/>
        </p:nvSpPr>
        <p:spPr>
          <a:xfrm>
            <a:off x="6766560" y="2167128"/>
            <a:ext cx="1828800" cy="54864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Level, flow and TDS</a:t>
            </a:r>
            <a:endParaRPr lang="en-US" sz="1150" dirty="0"/>
          </a:p>
        </p:txBody>
      </p:sp>
      <p:sp>
        <p:nvSpPr>
          <p:cNvPr id="16" name="Shape 13"/>
          <p:cNvSpPr/>
          <p:nvPr/>
        </p:nvSpPr>
        <p:spPr>
          <a:xfrm>
            <a:off x="6263640" y="2825496"/>
            <a:ext cx="365760" cy="365760"/>
          </a:xfrm>
          <a:prstGeom prst="ellipse">
            <a:avLst/>
          </a:prstGeom>
          <a:solidFill>
            <a:srgbClr val="1789A8"/>
          </a:solidFill>
          <a:ln w="12700">
            <a:solidFill>
              <a:srgbClr val="1789A8"/>
            </a:solidFill>
            <a:prstDash val="solid"/>
          </a:ln>
        </p:spPr>
      </p:sp>
      <p:sp>
        <p:nvSpPr>
          <p:cNvPr id="17" name="Text 14"/>
          <p:cNvSpPr txBox="1"/>
          <p:nvPr/>
        </p:nvSpPr>
        <p:spPr>
          <a:xfrm>
            <a:off x="6263640" y="28254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6766560" y="2779776"/>
            <a:ext cx="1828800" cy="256032"/>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Process</a:t>
            </a:r>
            <a:endParaRPr lang="en-US" sz="1400" dirty="0"/>
          </a:p>
        </p:txBody>
      </p:sp>
      <p:sp>
        <p:nvSpPr>
          <p:cNvPr id="19" name="Text 16"/>
          <p:cNvSpPr txBox="1"/>
          <p:nvPr/>
        </p:nvSpPr>
        <p:spPr>
          <a:xfrm>
            <a:off x="6766560" y="3054096"/>
            <a:ext cx="1828800" cy="54864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Compute values, compare thresholds</a:t>
            </a:r>
            <a:endParaRPr lang="en-US" sz="1150" dirty="0"/>
          </a:p>
        </p:txBody>
      </p:sp>
      <p:sp>
        <p:nvSpPr>
          <p:cNvPr id="20" name="Shape 17"/>
          <p:cNvSpPr/>
          <p:nvPr/>
        </p:nvSpPr>
        <p:spPr>
          <a:xfrm>
            <a:off x="6263640" y="3712464"/>
            <a:ext cx="365760" cy="365760"/>
          </a:xfrm>
          <a:prstGeom prst="ellipse">
            <a:avLst/>
          </a:prstGeom>
          <a:solidFill>
            <a:srgbClr val="1789A8"/>
          </a:solidFill>
          <a:ln w="12700">
            <a:solidFill>
              <a:srgbClr val="1789A8"/>
            </a:solidFill>
            <a:prstDash val="solid"/>
          </a:ln>
        </p:spPr>
      </p:sp>
      <p:sp>
        <p:nvSpPr>
          <p:cNvPr id="21" name="Text 18"/>
          <p:cNvSpPr txBox="1"/>
          <p:nvPr/>
        </p:nvSpPr>
        <p:spPr>
          <a:xfrm>
            <a:off x="6263640" y="37124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6766560" y="3666744"/>
            <a:ext cx="1828800" cy="256032"/>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Control</a:t>
            </a:r>
            <a:endParaRPr lang="en-US" sz="1400" dirty="0"/>
          </a:p>
        </p:txBody>
      </p:sp>
      <p:sp>
        <p:nvSpPr>
          <p:cNvPr id="23" name="Text 20"/>
          <p:cNvSpPr txBox="1"/>
          <p:nvPr/>
        </p:nvSpPr>
        <p:spPr>
          <a:xfrm>
            <a:off x="6766560" y="3941064"/>
            <a:ext cx="1828800" cy="54864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Pump, buzzer, LCD; loop repeats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Water Level and Automatic Pump Control</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06  METHODOLOGY</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11</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960120"/>
            <a:ext cx="4023360" cy="1371600"/>
          </a:xfrm>
          <a:prstGeom prst="roundRect">
            <a:avLst>
              <a:gd name="adj" fmla="val 5333"/>
            </a:avLst>
          </a:prstGeom>
          <a:solidFill>
            <a:srgbClr val="EEF7FA"/>
          </a:solidFill>
          <a:ln w="12700">
            <a:solidFill>
              <a:srgbClr val="EEF7FA"/>
            </a:solidFill>
            <a:prstDash val="solid"/>
          </a:ln>
        </p:spPr>
      </p:sp>
      <p:sp>
        <p:nvSpPr>
          <p:cNvPr id="7" name="Text 5"/>
          <p:cNvSpPr txBox="1"/>
          <p:nvPr/>
        </p:nvSpPr>
        <p:spPr>
          <a:xfrm>
            <a:off x="640080" y="1051560"/>
            <a:ext cx="3657600" cy="365760"/>
          </a:xfrm>
          <a:prstGeom prst="rect">
            <a:avLst/>
          </a:prstGeom>
          <a:noFill/>
          <a:ln/>
        </p:spPr>
        <p:txBody>
          <a:bodyPr wrap="square" lIns="0" tIns="0" rIns="0" bIns="0" rtlCol="0" anchor="t"/>
          <a:lstStyle/>
          <a:p>
            <a:pPr indent="0" marL="0">
              <a:buNone/>
            </a:pPr>
            <a:r>
              <a:rPr lang="en-US" sz="2000" b="1" dirty="0">
                <a:solidFill>
                  <a:srgbClr val="0B3C5D"/>
                </a:solidFill>
                <a:latin typeface="Cambria" pitchFamily="34" charset="0"/>
                <a:ea typeface="Cambria" pitchFamily="34" charset="-122"/>
                <a:cs typeface="Cambria" pitchFamily="34" charset="-120"/>
              </a:rPr>
              <a:t>Level (%) = (D − d) / D × 100</a:t>
            </a:r>
            <a:endParaRPr lang="en-US" sz="2000" dirty="0"/>
          </a:p>
        </p:txBody>
      </p:sp>
      <p:sp>
        <p:nvSpPr>
          <p:cNvPr id="8" name="Text 6"/>
          <p:cNvSpPr txBox="1"/>
          <p:nvPr/>
        </p:nvSpPr>
        <p:spPr>
          <a:xfrm>
            <a:off x="640080" y="1508760"/>
            <a:ext cx="3657600" cy="50292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D = reference distance (tank depth, 15 cm in prototype)</a:t>
            </a:r>
            <a:endParaRPr lang="en-US" sz="1200" dirty="0"/>
          </a:p>
          <a:p>
            <a:pPr indent="0" marL="0">
              <a:buNone/>
            </a:pPr>
            <a:r>
              <a:rPr lang="en-US" sz="1200" dirty="0">
                <a:solidFill>
                  <a:srgbClr val="5B6B77"/>
                </a:solidFill>
                <a:latin typeface="Calibri" pitchFamily="34" charset="0"/>
                <a:ea typeface="Calibri" pitchFamily="34" charset="-122"/>
                <a:cs typeface="Calibri" pitchFamily="34" charset="-120"/>
              </a:rPr>
              <a:t>d = measured distance to the water surface</a:t>
            </a:r>
            <a:endParaRPr lang="en-US" sz="1200" dirty="0"/>
          </a:p>
        </p:txBody>
      </p:sp>
      <p:sp>
        <p:nvSpPr>
          <p:cNvPr id="9" name="Text 7"/>
          <p:cNvSpPr txBox="1"/>
          <p:nvPr/>
        </p:nvSpPr>
        <p:spPr>
          <a:xfrm>
            <a:off x="640080" y="2011680"/>
            <a:ext cx="3657600" cy="274320"/>
          </a:xfrm>
          <a:prstGeom prst="rect">
            <a:avLst/>
          </a:prstGeom>
          <a:noFill/>
          <a:ln/>
        </p:spPr>
        <p:txBody>
          <a:bodyPr wrap="square" lIns="0" tIns="0" rIns="0" bIns="0" rtlCol="0" anchor="t"/>
          <a:lstStyle/>
          <a:p>
            <a:pPr indent="0" marL="0">
              <a:buNone/>
            </a:pPr>
            <a:r>
              <a:rPr lang="en-US" sz="1300" b="1" dirty="0">
                <a:solidFill>
                  <a:srgbClr val="1789A8"/>
                </a:solidFill>
                <a:latin typeface="Calibri" pitchFamily="34" charset="0"/>
                <a:ea typeface="Calibri" pitchFamily="34" charset="-122"/>
                <a:cs typeface="Calibri" pitchFamily="34" charset="-120"/>
              </a:rPr>
              <a:t>Example: d = 3 cm → (15 − 3)/15 × 100 = 80%</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63440" y="960120"/>
          <a:ext cx="4023360" cy="914400"/>
        </p:xfrm>
        <a:graphic>
          <a:graphicData uri="http://schemas.openxmlformats.org/drawingml/2006/table">
            <a:tbl>
              <a:tblPr/>
              <a:tblGrid>
                <a:gridCol w="2103120"/>
                <a:gridCol w="192024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Water-level condition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Pump action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r>
              <a:tr h="347472">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Level ≤ 30%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Pump ON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30% to 90%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Maintain previous state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347472">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Level ≥ 90%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Pump OFF</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47472">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Invalid ultrasonic reading</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Pump OFF (auto mode)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bl>
          </a:graphicData>
        </a:graphic>
      </p:graphicFrame>
      <p:sp>
        <p:nvSpPr>
          <p:cNvPr id="11" name="Shape 8"/>
          <p:cNvSpPr/>
          <p:nvPr/>
        </p:nvSpPr>
        <p:spPr>
          <a:xfrm>
            <a:off x="457200" y="2514600"/>
            <a:ext cx="4023360" cy="2011680"/>
          </a:xfrm>
          <a:prstGeom prst="roundRect">
            <a:avLst>
              <a:gd name="adj" fmla="val 3636"/>
            </a:avLst>
          </a:prstGeom>
          <a:solidFill>
            <a:srgbClr val="CDEBF3"/>
          </a:solidFill>
          <a:ln w="12700">
            <a:solidFill>
              <a:srgbClr val="CDEBF3"/>
            </a:solidFill>
            <a:prstDash val="solid"/>
          </a:ln>
        </p:spPr>
      </p:sp>
      <p:sp>
        <p:nvSpPr>
          <p:cNvPr id="12" name="Text 9"/>
          <p:cNvSpPr txBox="1"/>
          <p:nvPr/>
        </p:nvSpPr>
        <p:spPr>
          <a:xfrm>
            <a:off x="640080" y="2606040"/>
            <a:ext cx="36576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Why hysteresis?</a:t>
            </a:r>
            <a:endParaRPr lang="en-US" sz="1500" dirty="0"/>
          </a:p>
        </p:txBody>
      </p:sp>
      <p:sp>
        <p:nvSpPr>
          <p:cNvPr id="13" name="Text 10"/>
          <p:cNvSpPr txBox="1"/>
          <p:nvPr/>
        </p:nvSpPr>
        <p:spPr>
          <a:xfrm>
            <a:off x="640080" y="2971800"/>
            <a:ext cx="3657600" cy="1463040"/>
          </a:xfrm>
          <a:prstGeom prst="rect">
            <a:avLst/>
          </a:prstGeom>
          <a:noFill/>
          <a:ln/>
        </p:spPr>
        <p:txBody>
          <a:bodyPr wrap="square" lIns="0" tIns="0" rIns="0" bIns="0" rtlCol="0" anchor="t"/>
          <a:lstStyle/>
          <a:p>
            <a:pPr indent="0" marL="0">
              <a:buNone/>
            </a:pPr>
            <a:r>
              <a:rPr lang="en-US" sz="1800" dirty="0">
                <a:solidFill>
                  <a:srgbClr val="1B2A35"/>
                </a:solidFill>
                <a:latin typeface="Cambria" pitchFamily="34" charset="0"/>
                <a:ea typeface="Cambria" pitchFamily="34" charset="-122"/>
                <a:cs typeface="Cambria" pitchFamily="34" charset="-120"/>
              </a:rPr>
              <a:t>Holding the previous state between 30% and 90% prevents unnecessary relay chatter and wear.</a:t>
            </a:r>
            <a:endParaRPr lang="en-US" sz="1800" dirty="0"/>
          </a:p>
        </p:txBody>
      </p:sp>
      <p:sp>
        <p:nvSpPr>
          <p:cNvPr id="14" name="Shape 11"/>
          <p:cNvSpPr/>
          <p:nvPr/>
        </p:nvSpPr>
        <p:spPr>
          <a:xfrm>
            <a:off x="4663440" y="2926080"/>
            <a:ext cx="4023360" cy="1600200"/>
          </a:xfrm>
          <a:prstGeom prst="roundRect">
            <a:avLst>
              <a:gd name="adj" fmla="val 4571"/>
            </a:avLst>
          </a:prstGeom>
          <a:solidFill>
            <a:srgbClr val="FFF3DF"/>
          </a:solidFill>
          <a:ln w="12700">
            <a:solidFill>
              <a:srgbClr val="F2A541"/>
            </a:solidFill>
            <a:prstDash val="solid"/>
          </a:ln>
        </p:spPr>
      </p:sp>
      <p:sp>
        <p:nvSpPr>
          <p:cNvPr id="15" name="Text 12"/>
          <p:cNvSpPr txBox="1"/>
          <p:nvPr/>
        </p:nvSpPr>
        <p:spPr>
          <a:xfrm>
            <a:off x="4846320" y="3017520"/>
            <a:ext cx="3657600" cy="274320"/>
          </a:xfrm>
          <a:prstGeom prst="rect">
            <a:avLst/>
          </a:prstGeom>
          <a:noFill/>
          <a:ln/>
        </p:spPr>
        <p:txBody>
          <a:bodyPr wrap="square" lIns="0" tIns="0" rIns="0" bIns="0" rtlCol="0" anchor="t"/>
          <a:lstStyle/>
          <a:p>
            <a:pPr indent="0" marL="0">
              <a:buNone/>
            </a:pPr>
            <a:r>
              <a:rPr lang="en-US" sz="1400" b="1" dirty="0">
                <a:solidFill>
                  <a:srgbClr val="9A5B00"/>
                </a:solidFill>
                <a:latin typeface="Calibri" pitchFamily="34" charset="0"/>
                <a:ea typeface="Calibri" pitchFamily="34" charset="-122"/>
                <a:cs typeface="Calibri" pitchFamily="34" charset="-120"/>
              </a:rPr>
              <a:t>Design caution</a:t>
            </a:r>
            <a:endParaRPr lang="en-US" sz="1400" dirty="0"/>
          </a:p>
        </p:txBody>
      </p:sp>
      <p:sp>
        <p:nvSpPr>
          <p:cNvPr id="16" name="Text 13"/>
          <p:cNvSpPr txBox="1"/>
          <p:nvPr/>
        </p:nvSpPr>
        <p:spPr>
          <a:xfrm>
            <a:off x="4846320" y="3310128"/>
            <a:ext cx="3657600" cy="1188720"/>
          </a:xfrm>
          <a:prstGeom prst="rect">
            <a:avLst/>
          </a:prstGeom>
          <a:noFill/>
          <a:ln/>
        </p:spPr>
        <p:txBody>
          <a:bodyPr wrap="square" lIns="0" tIns="0" rIns="0" bIns="0" rtlCol="0" anchor="t"/>
          <a:lstStyle/>
          <a:p>
            <a:pPr indent="0" marL="0">
              <a:buNone/>
            </a:pPr>
            <a:r>
              <a:rPr lang="en-US" sz="1250" dirty="0">
                <a:solidFill>
                  <a:srgbClr val="1B2A35"/>
                </a:solidFill>
                <a:latin typeface="Calibri" pitchFamily="34" charset="0"/>
                <a:ea typeface="Calibri" pitchFamily="34" charset="-122"/>
                <a:cs typeface="Calibri" pitchFamily="34" charset="-120"/>
              </a:rPr>
              <a:t>90% of a 15 cm depth is about 1.5 cm from the sensor, below the reliable range of many HC-SR04 units. Sensor placement or the upper threshold may need adjusting.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Flow, TDS, Display and Alerts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06  METHODOLOGY</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12</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05840"/>
            <a:ext cx="4023360" cy="1572768"/>
          </a:xfrm>
          <a:prstGeom prst="roundRect">
            <a:avLst>
              <a:gd name="adj" fmla="val 4651"/>
            </a:avLst>
          </a:prstGeom>
          <a:solidFill>
            <a:srgbClr val="EEF7FA"/>
          </a:solidFill>
          <a:ln w="12700">
            <a:solidFill>
              <a:srgbClr val="EEF7FA"/>
            </a:solidFill>
            <a:prstDash val="solid"/>
          </a:ln>
        </p:spPr>
      </p:sp>
      <p:sp>
        <p:nvSpPr>
          <p:cNvPr id="7" name="Text 5"/>
          <p:cNvSpPr txBox="1"/>
          <p:nvPr/>
        </p:nvSpPr>
        <p:spPr>
          <a:xfrm>
            <a:off x="640080" y="1097280"/>
            <a:ext cx="36576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Flow rate</a:t>
            </a:r>
            <a:endParaRPr lang="en-US" sz="1500" dirty="0"/>
          </a:p>
        </p:txBody>
      </p:sp>
      <p:sp>
        <p:nvSpPr>
          <p:cNvPr id="8" name="Text 6"/>
          <p:cNvSpPr txBox="1"/>
          <p:nvPr/>
        </p:nvSpPr>
        <p:spPr>
          <a:xfrm>
            <a:off x="640080" y="1417320"/>
            <a:ext cx="3657600" cy="548640"/>
          </a:xfrm>
          <a:prstGeom prst="rect">
            <a:avLst/>
          </a:prstGeom>
          <a:noFill/>
          <a:ln/>
        </p:spPr>
        <p:txBody>
          <a:bodyPr wrap="square" lIns="0" tIns="0" rIns="0" bIns="0" rtlCol="0" anchor="t"/>
          <a:lstStyle/>
          <a:p>
            <a:pPr indent="0" marL="0">
              <a:buNone/>
            </a:pPr>
            <a:r>
              <a:rPr lang="en-US" sz="1300" b="1" dirty="0">
                <a:solidFill>
                  <a:srgbClr val="1789A8"/>
                </a:solidFill>
                <a:latin typeface="Calibri" pitchFamily="34" charset="0"/>
                <a:ea typeface="Calibri" pitchFamily="34" charset="-122"/>
                <a:cs typeface="Calibri" pitchFamily="34" charset="-120"/>
              </a:rPr>
              <a:t>Q = (P / K) × (60 / t)  L/min</a:t>
            </a:r>
            <a:endParaRPr lang="en-US" sz="1300" dirty="0"/>
          </a:p>
        </p:txBody>
      </p:sp>
      <p:sp>
        <p:nvSpPr>
          <p:cNvPr id="9" name="Text 7"/>
          <p:cNvSpPr txBox="1"/>
          <p:nvPr/>
        </p:nvSpPr>
        <p:spPr>
          <a:xfrm>
            <a:off x="640080" y="1920240"/>
            <a:ext cx="3657600" cy="5943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P = pulses in interval, K = pulses per litre (450, provisional; must be calibrated), t = interval (s). Volume is accumulated over intervals.</a:t>
            </a:r>
            <a:endParaRPr lang="en-US" sz="1150" dirty="0"/>
          </a:p>
        </p:txBody>
      </p:sp>
      <p:sp>
        <p:nvSpPr>
          <p:cNvPr id="10" name="Shape 8"/>
          <p:cNvSpPr/>
          <p:nvPr/>
        </p:nvSpPr>
        <p:spPr>
          <a:xfrm>
            <a:off x="4663440" y="1005840"/>
            <a:ext cx="4023360" cy="1572768"/>
          </a:xfrm>
          <a:prstGeom prst="roundRect">
            <a:avLst>
              <a:gd name="adj" fmla="val 4651"/>
            </a:avLst>
          </a:prstGeom>
          <a:solidFill>
            <a:srgbClr val="EEF7FA"/>
          </a:solidFill>
          <a:ln w="12700">
            <a:solidFill>
              <a:srgbClr val="EEF7FA"/>
            </a:solidFill>
            <a:prstDash val="solid"/>
          </a:ln>
        </p:spPr>
      </p:sp>
      <p:sp>
        <p:nvSpPr>
          <p:cNvPr id="11" name="Text 9"/>
          <p:cNvSpPr txBox="1"/>
          <p:nvPr/>
        </p:nvSpPr>
        <p:spPr>
          <a:xfrm>
            <a:off x="4846320" y="1097280"/>
            <a:ext cx="36576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TDS (ppm)</a:t>
            </a:r>
            <a:endParaRPr lang="en-US" sz="1500" dirty="0"/>
          </a:p>
        </p:txBody>
      </p:sp>
      <p:sp>
        <p:nvSpPr>
          <p:cNvPr id="12" name="Text 10"/>
          <p:cNvSpPr txBox="1"/>
          <p:nvPr/>
        </p:nvSpPr>
        <p:spPr>
          <a:xfrm>
            <a:off x="4846320" y="1417320"/>
            <a:ext cx="3657600" cy="548640"/>
          </a:xfrm>
          <a:prstGeom prst="rect">
            <a:avLst/>
          </a:prstGeom>
          <a:noFill/>
          <a:ln/>
        </p:spPr>
        <p:txBody>
          <a:bodyPr wrap="square" lIns="0" tIns="0" rIns="0" bIns="0" rtlCol="0" anchor="t"/>
          <a:lstStyle/>
          <a:p>
            <a:pPr indent="0" marL="0">
              <a:buNone/>
            </a:pPr>
            <a:r>
              <a:rPr lang="en-US" sz="1300" b="1" dirty="0">
                <a:solidFill>
                  <a:srgbClr val="1789A8"/>
                </a:solidFill>
                <a:latin typeface="Calibri" pitchFamily="34" charset="0"/>
                <a:ea typeface="Calibri" pitchFamily="34" charset="-122"/>
                <a:cs typeface="Calibri" pitchFamily="34" charset="-120"/>
              </a:rPr>
              <a:t>Read analog voltage on GPIO 34</a:t>
            </a:r>
            <a:endParaRPr lang="en-US" sz="1300" dirty="0"/>
          </a:p>
        </p:txBody>
      </p:sp>
      <p:sp>
        <p:nvSpPr>
          <p:cNvPr id="13" name="Text 11"/>
          <p:cNvSpPr txBox="1"/>
          <p:nvPr/>
        </p:nvSpPr>
        <p:spPr>
          <a:xfrm>
            <a:off x="4846320" y="1920240"/>
            <a:ext cx="3657600" cy="5943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Converted to ppm by an approximate formula; needs calibration and temperature compensation.</a:t>
            </a:r>
            <a:endParaRPr lang="en-US" sz="1150" dirty="0"/>
          </a:p>
        </p:txBody>
      </p:sp>
      <p:sp>
        <p:nvSpPr>
          <p:cNvPr id="14" name="Shape 12"/>
          <p:cNvSpPr/>
          <p:nvPr/>
        </p:nvSpPr>
        <p:spPr>
          <a:xfrm>
            <a:off x="457200" y="2697480"/>
            <a:ext cx="4023360" cy="1572768"/>
          </a:xfrm>
          <a:prstGeom prst="roundRect">
            <a:avLst>
              <a:gd name="adj" fmla="val 4651"/>
            </a:avLst>
          </a:prstGeom>
          <a:solidFill>
            <a:srgbClr val="EEF7FA"/>
          </a:solidFill>
          <a:ln w="12700">
            <a:solidFill>
              <a:srgbClr val="EEF7FA"/>
            </a:solidFill>
            <a:prstDash val="solid"/>
          </a:ln>
        </p:spPr>
      </p:sp>
      <p:sp>
        <p:nvSpPr>
          <p:cNvPr id="15" name="Text 13"/>
          <p:cNvSpPr txBox="1"/>
          <p:nvPr/>
        </p:nvSpPr>
        <p:spPr>
          <a:xfrm>
            <a:off x="640080" y="2788920"/>
            <a:ext cx="36576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LCD screens (alternate)</a:t>
            </a:r>
            <a:endParaRPr lang="en-US" sz="1500" dirty="0"/>
          </a:p>
        </p:txBody>
      </p:sp>
      <p:sp>
        <p:nvSpPr>
          <p:cNvPr id="16" name="Text 14"/>
          <p:cNvSpPr txBox="1"/>
          <p:nvPr/>
        </p:nvSpPr>
        <p:spPr>
          <a:xfrm>
            <a:off x="640080" y="3108960"/>
            <a:ext cx="3657600" cy="548640"/>
          </a:xfrm>
          <a:prstGeom prst="rect">
            <a:avLst/>
          </a:prstGeom>
          <a:noFill/>
          <a:ln/>
        </p:spPr>
        <p:txBody>
          <a:bodyPr wrap="square" lIns="0" tIns="0" rIns="0" bIns="0" rtlCol="0" anchor="t"/>
          <a:lstStyle/>
          <a:p>
            <a:pPr indent="0" marL="0">
              <a:buNone/>
            </a:pPr>
            <a:r>
              <a:rPr lang="en-US" sz="1300" b="1" dirty="0">
                <a:solidFill>
                  <a:srgbClr val="1789A8"/>
                </a:solidFill>
                <a:latin typeface="Calibri" pitchFamily="34" charset="0"/>
                <a:ea typeface="Calibri" pitchFamily="34" charset="-122"/>
                <a:cs typeface="Calibri" pitchFamily="34" charset="-120"/>
              </a:rPr>
              <a:t>Screen 1: distance, level %, pump status</a:t>
            </a:r>
            <a:endParaRPr lang="en-US" sz="1300" dirty="0"/>
          </a:p>
          <a:p>
            <a:pPr indent="0" marL="0">
              <a:buNone/>
            </a:pPr>
            <a:r>
              <a:rPr lang="en-US" sz="1300" b="1" dirty="0">
                <a:solidFill>
                  <a:srgbClr val="1789A8"/>
                </a:solidFill>
                <a:latin typeface="Calibri" pitchFamily="34" charset="0"/>
                <a:ea typeface="Calibri" pitchFamily="34" charset="-122"/>
                <a:cs typeface="Calibri" pitchFamily="34" charset="-120"/>
              </a:rPr>
              <a:t>Screen 2: flow L/min, TDS ppm</a:t>
            </a:r>
            <a:endParaRPr lang="en-US" sz="1300" dirty="0"/>
          </a:p>
        </p:txBody>
      </p:sp>
      <p:sp>
        <p:nvSpPr>
          <p:cNvPr id="17" name="Text 15"/>
          <p:cNvSpPr txBox="1"/>
          <p:nvPr/>
        </p:nvSpPr>
        <p:spPr>
          <a:xfrm>
            <a:off x="640080" y="3611880"/>
            <a:ext cx="3657600" cy="5943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16×2 I²C display; also mirrored on Serial Monitor.</a:t>
            </a:r>
            <a:endParaRPr lang="en-US" sz="1150" dirty="0"/>
          </a:p>
        </p:txBody>
      </p:sp>
      <p:sp>
        <p:nvSpPr>
          <p:cNvPr id="18" name="Shape 16"/>
          <p:cNvSpPr/>
          <p:nvPr/>
        </p:nvSpPr>
        <p:spPr>
          <a:xfrm>
            <a:off x="4663440" y="2697480"/>
            <a:ext cx="4023360" cy="1572768"/>
          </a:xfrm>
          <a:prstGeom prst="roundRect">
            <a:avLst>
              <a:gd name="adj" fmla="val 4651"/>
            </a:avLst>
          </a:prstGeom>
          <a:solidFill>
            <a:srgbClr val="CDEBF3"/>
          </a:solidFill>
          <a:ln w="12700">
            <a:solidFill>
              <a:srgbClr val="CDEBF3"/>
            </a:solidFill>
            <a:prstDash val="solid"/>
          </a:ln>
        </p:spPr>
      </p:sp>
      <p:sp>
        <p:nvSpPr>
          <p:cNvPr id="19" name="Text 17"/>
          <p:cNvSpPr txBox="1"/>
          <p:nvPr/>
        </p:nvSpPr>
        <p:spPr>
          <a:xfrm>
            <a:off x="4846320" y="2788920"/>
            <a:ext cx="36576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Buzzer alerts</a:t>
            </a:r>
            <a:endParaRPr lang="en-US" sz="1500" dirty="0"/>
          </a:p>
        </p:txBody>
      </p:sp>
      <p:sp>
        <p:nvSpPr>
          <p:cNvPr id="20" name="Text 18"/>
          <p:cNvSpPr txBox="1"/>
          <p:nvPr/>
        </p:nvSpPr>
        <p:spPr>
          <a:xfrm>
            <a:off x="4846320" y="3108960"/>
            <a:ext cx="3657600" cy="548640"/>
          </a:xfrm>
          <a:prstGeom prst="rect">
            <a:avLst/>
          </a:prstGeom>
          <a:noFill/>
          <a:ln/>
        </p:spPr>
        <p:txBody>
          <a:bodyPr wrap="square" lIns="0" tIns="0" rIns="0" bIns="0" rtlCol="0" anchor="t"/>
          <a:lstStyle/>
          <a:p>
            <a:pPr indent="0" marL="0">
              <a:buNone/>
            </a:pPr>
            <a:r>
              <a:rPr lang="en-US" sz="1300" b="1" dirty="0">
                <a:solidFill>
                  <a:srgbClr val="1789A8"/>
                </a:solidFill>
                <a:latin typeface="Calibri" pitchFamily="34" charset="0"/>
                <a:ea typeface="Calibri" pitchFamily="34" charset="-122"/>
                <a:cs typeface="Calibri" pitchFamily="34" charset="-120"/>
              </a:rPr>
              <a:t>Level ≤ 30%</a:t>
            </a:r>
            <a:endParaRPr lang="en-US" sz="1300" dirty="0"/>
          </a:p>
          <a:p>
            <a:pPr indent="0" marL="0">
              <a:buNone/>
            </a:pPr>
            <a:r>
              <a:rPr lang="en-US" sz="1300" b="1" dirty="0">
                <a:solidFill>
                  <a:srgbClr val="1789A8"/>
                </a:solidFill>
                <a:latin typeface="Calibri" pitchFamily="34" charset="0"/>
                <a:ea typeface="Calibri" pitchFamily="34" charset="-122"/>
                <a:cs typeface="Calibri" pitchFamily="34" charset="-120"/>
              </a:rPr>
              <a:t>Level ≥ 90%</a:t>
            </a:r>
            <a:endParaRPr lang="en-US" sz="1300" dirty="0"/>
          </a:p>
          <a:p>
            <a:pPr indent="0" marL="0">
              <a:buNone/>
            </a:pPr>
            <a:r>
              <a:rPr lang="en-US" sz="1300" b="1" dirty="0">
                <a:solidFill>
                  <a:srgbClr val="1789A8"/>
                </a:solidFill>
                <a:latin typeface="Calibri" pitchFamily="34" charset="0"/>
                <a:ea typeface="Calibri" pitchFamily="34" charset="-122"/>
                <a:cs typeface="Calibri" pitchFamily="34" charset="-120"/>
              </a:rPr>
              <a:t>TDS &gt; 500 ppm</a:t>
            </a:r>
            <a:endParaRPr lang="en-US" sz="1300" dirty="0"/>
          </a:p>
        </p:txBody>
      </p:sp>
      <p:sp>
        <p:nvSpPr>
          <p:cNvPr id="21" name="Text 19"/>
          <p:cNvSpPr txBox="1"/>
          <p:nvPr/>
        </p:nvSpPr>
        <p:spPr>
          <a:xfrm>
            <a:off x="4846320" y="3794760"/>
            <a:ext cx="3657600" cy="59436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Thresholds are adjustable for the application.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Functional Test Results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07  RESULTS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13</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5486400" cy="914400"/>
        </p:xfrm>
        <a:graphic>
          <a:graphicData uri="http://schemas.openxmlformats.org/drawingml/2006/table">
            <a:tbl>
              <a:tblPr/>
              <a:tblGrid>
                <a:gridCol w="1737360"/>
                <a:gridCol w="3017520"/>
                <a:gridCol w="731520"/>
              </a:tblGrid>
              <a:tr h="310896">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Test case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Expected result</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0B3C5D"/>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Ultrasonic sensor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Distance shown in cm on Serial Monitor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Water-level calculation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Correct percentage from distance</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LCD screen 1</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Distance, level, pump status shown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LCD screen 2</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Flow rate and TDS shown</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Flow sensor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Flow rate changes when water flows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TDS sensor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TDS responds to analog input</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Low-level control</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Pump ON command at ≤30%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Full-level control</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Pump OFF command at ≥90%</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Buzzer</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Activates on programmed conditions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1B2A35"/>
                          </a:solidFill>
                          <a:latin typeface="Calibri" pitchFamily="34" charset="0"/>
                          <a:ea typeface="Calibri" pitchFamily="34" charset="-122"/>
                          <a:cs typeface="Calibri" pitchFamily="34" charset="-120"/>
                        </a:rPr>
                        <a:t>Relay</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l" indent="0" marL="0">
                        <a:buNone/>
                      </a:pPr>
                      <a:r>
                        <a:rPr lang="en-US" sz="1200" dirty="0">
                          <a:solidFill>
                            <a:srgbClr val="1B2A35"/>
                          </a:solidFill>
                          <a:latin typeface="Calibri" pitchFamily="34" charset="0"/>
                          <a:ea typeface="Calibri" pitchFamily="34" charset="-122"/>
                          <a:cs typeface="Calibri" pitchFamily="34" charset="-120"/>
                        </a:rPr>
                        <a:t>Contacts switch as commanded</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c>
                  <a:txBody>
                    <a:bodyPr/>
                    <a:lstStyle/>
                    <a:p>
                      <a:pPr algn="ctr" indent="0" marL="0">
                        <a:buNone/>
                      </a:pPr>
                      <a:r>
                        <a:rPr lang="en-US" sz="1200" dirty="0">
                          <a:solidFill>
                            <a:srgbClr val="2E8B57"/>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18288" marB="18288" anchor="ctr">
                    <a:lnL w="6350" cap="flat" cmpd="sng" algn="ctr">
                      <a:solidFill>
                        <a:srgbClr val="D3E3EA"/>
                      </a:solidFill>
                      <a:prstDash val="solid"/>
                      <a:round/>
                      <a:headEnd type="none" w="med" len="med"/>
                      <a:tailEnd type="none" w="med" len="med"/>
                    </a:lnL>
                    <a:lnR w="6350" cap="flat" cmpd="sng" algn="ctr">
                      <a:solidFill>
                        <a:srgbClr val="D3E3EA"/>
                      </a:solidFill>
                      <a:prstDash val="solid"/>
                      <a:round/>
                      <a:headEnd type="none" w="med" len="med"/>
                      <a:tailEnd type="none" w="med" len="med"/>
                    </a:lnR>
                    <a:lnT w="6350" cap="flat" cmpd="sng" algn="ctr">
                      <a:solidFill>
                        <a:srgbClr val="D3E3EA"/>
                      </a:solidFill>
                      <a:prstDash val="solid"/>
                      <a:round/>
                      <a:headEnd type="none" w="med" len="med"/>
                      <a:tailEnd type="none" w="med" len="med"/>
                    </a:lnT>
                    <a:lnB w="6350" cap="flat" cmpd="sng" algn="ctr">
                      <a:solidFill>
                        <a:srgbClr val="D3E3EA"/>
                      </a:solidFill>
                      <a:prstDash val="solid"/>
                      <a:round/>
                      <a:headEnd type="none" w="med" len="med"/>
                      <a:tailEnd type="none" w="med" len="med"/>
                    </a:lnB>
                    <a:solidFill>
                      <a:srgbClr val="EEF7FA"/>
                    </a:solidFill>
                  </a:tcPr>
                </a:tc>
              </a:tr>
            </a:tbl>
          </a:graphicData>
        </a:graphic>
      </p:graphicFrame>
      <p:sp>
        <p:nvSpPr>
          <p:cNvPr id="7" name="Shape 4"/>
          <p:cNvSpPr/>
          <p:nvPr/>
        </p:nvSpPr>
        <p:spPr>
          <a:xfrm>
            <a:off x="6217920" y="960120"/>
            <a:ext cx="2468880" cy="1463040"/>
          </a:xfrm>
          <a:prstGeom prst="roundRect">
            <a:avLst>
              <a:gd name="adj" fmla="val 5000"/>
            </a:avLst>
          </a:prstGeom>
          <a:solidFill>
            <a:srgbClr val="0B3C5D"/>
          </a:solidFill>
          <a:ln w="12700">
            <a:solidFill>
              <a:srgbClr val="0B3C5D"/>
            </a:solidFill>
            <a:prstDash val="solid"/>
          </a:ln>
        </p:spPr>
      </p:sp>
      <p:sp>
        <p:nvSpPr>
          <p:cNvPr id="8" name="Text 5"/>
          <p:cNvSpPr txBox="1"/>
          <p:nvPr/>
        </p:nvSpPr>
        <p:spPr>
          <a:xfrm>
            <a:off x="6217920" y="1097280"/>
            <a:ext cx="2468880" cy="73152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10 / 10</a:t>
            </a:r>
            <a:endParaRPr lang="en-US" sz="4400" dirty="0"/>
          </a:p>
        </p:txBody>
      </p:sp>
      <p:sp>
        <p:nvSpPr>
          <p:cNvPr id="9" name="Text 6"/>
          <p:cNvSpPr txBox="1"/>
          <p:nvPr/>
        </p:nvSpPr>
        <p:spPr>
          <a:xfrm>
            <a:off x="6217920" y="1828800"/>
            <a:ext cx="2468880" cy="365760"/>
          </a:xfrm>
          <a:prstGeom prst="rect">
            <a:avLst/>
          </a:prstGeom>
          <a:noFill/>
          <a:ln/>
        </p:spPr>
        <p:txBody>
          <a:bodyPr wrap="square" lIns="0" tIns="0" rIns="0" bIns="0" rtlCol="0" anchor="t"/>
          <a:lstStyle/>
          <a:p>
            <a:pPr algn="ctr" indent="0" marL="0">
              <a:buNone/>
            </a:pPr>
            <a:r>
              <a:rPr lang="en-US" sz="1400" dirty="0">
                <a:solidFill>
                  <a:srgbClr val="CDEBF3"/>
                </a:solidFill>
                <a:latin typeface="Calibri" pitchFamily="34" charset="0"/>
                <a:ea typeface="Calibri" pitchFamily="34" charset="-122"/>
                <a:cs typeface="Calibri" pitchFamily="34" charset="-120"/>
              </a:rPr>
              <a:t>test cases passed</a:t>
            </a:r>
            <a:endParaRPr lang="en-US" sz="1400" dirty="0"/>
          </a:p>
        </p:txBody>
      </p:sp>
      <p:sp>
        <p:nvSpPr>
          <p:cNvPr id="10" name="Shape 7"/>
          <p:cNvSpPr/>
          <p:nvPr/>
        </p:nvSpPr>
        <p:spPr>
          <a:xfrm>
            <a:off x="6217920" y="2606040"/>
            <a:ext cx="2468880" cy="1828800"/>
          </a:xfrm>
          <a:prstGeom prst="roundRect">
            <a:avLst>
              <a:gd name="adj" fmla="val 4000"/>
            </a:avLst>
          </a:prstGeom>
          <a:solidFill>
            <a:srgbClr val="CDEBF3"/>
          </a:solidFill>
          <a:ln w="12700">
            <a:solidFill>
              <a:srgbClr val="CDEBF3"/>
            </a:solidFill>
            <a:prstDash val="solid"/>
          </a:ln>
        </p:spPr>
      </p:sp>
      <p:sp>
        <p:nvSpPr>
          <p:cNvPr id="11" name="Text 8"/>
          <p:cNvSpPr txBox="1"/>
          <p:nvPr/>
        </p:nvSpPr>
        <p:spPr>
          <a:xfrm>
            <a:off x="6355080" y="2679192"/>
            <a:ext cx="2194560" cy="274320"/>
          </a:xfrm>
          <a:prstGeom prst="rect">
            <a:avLst/>
          </a:prstGeom>
          <a:noFill/>
          <a:ln/>
        </p:spPr>
        <p:txBody>
          <a:bodyPr wrap="square" lIns="0" tIns="0" rIns="0" bIns="0" rtlCol="0" anchor="t"/>
          <a:lstStyle/>
          <a:p>
            <a:pPr indent="0" marL="0">
              <a:buNone/>
            </a:pPr>
            <a:r>
              <a:rPr lang="en-US" sz="1400" b="1" dirty="0">
                <a:solidFill>
                  <a:srgbClr val="0B3C5D"/>
                </a:solidFill>
                <a:latin typeface="Calibri" pitchFamily="34" charset="0"/>
                <a:ea typeface="Calibri" pitchFamily="34" charset="-122"/>
                <a:cs typeface="Calibri" pitchFamily="34" charset="-120"/>
              </a:rPr>
              <a:t>Test sequence</a:t>
            </a:r>
            <a:endParaRPr lang="en-US" sz="1400" dirty="0"/>
          </a:p>
        </p:txBody>
      </p:sp>
      <p:sp>
        <p:nvSpPr>
          <p:cNvPr id="12" name="Text 9"/>
          <p:cNvSpPr txBox="1"/>
          <p:nvPr/>
        </p:nvSpPr>
        <p:spPr>
          <a:xfrm>
            <a:off x="6355080" y="2999232"/>
            <a:ext cx="2194560" cy="1371600"/>
          </a:xfrm>
          <a:prstGeom prst="rect">
            <a:avLst/>
          </a:prstGeom>
          <a:noFill/>
          <a:ln/>
        </p:spPr>
        <p:txBody>
          <a:bodyPr wrap="square" lIns="0" tIns="0" rIns="0" bIns="0" rtlCol="0" anchor="t"/>
          <a:lstStyle/>
          <a:p>
            <a:pPr indent="0" marL="0">
              <a:buNone/>
            </a:pPr>
            <a:r>
              <a:rPr lang="en-US" sz="1200" dirty="0">
                <a:solidFill>
                  <a:srgbClr val="1B2A35"/>
                </a:solidFill>
                <a:latin typeface="Calibri" pitchFamily="34" charset="0"/>
                <a:ea typeface="Calibri" pitchFamily="34" charset="-122"/>
                <a:cs typeface="Calibri" pitchFamily="34" charset="-120"/>
              </a:rPr>
              <a:t>Check sensors and display first, test the relay with the pump disconnected, then connect the pump after verifying electrical safety.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Worked Examples and Discussion</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07  RESULTS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14</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graphicFrame>
        <p:nvGraphicFramePr>
          <p:cNvPr id="6" name="Chart 0" descr=""/>
          <p:cNvGraphicFramePr/>
          <p:nvPr/>
        </p:nvGraphicFramePr>
        <p:xfrm>
          <a:off x="457200" y="914400"/>
          <a:ext cx="429768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3977640"/>
            <a:ext cx="4297680" cy="640080"/>
          </a:xfrm>
          <a:prstGeom prst="rect">
            <a:avLst/>
          </a:prstGeom>
          <a:noFill/>
          <a:ln/>
        </p:spPr>
        <p:txBody>
          <a:bodyPr wrap="square" lIns="0" tIns="0" rIns="0" bIns="0" rtlCol="0" anchor="t"/>
          <a:lstStyle/>
          <a:p>
            <a:pPr indent="0" marL="0">
              <a:buNone/>
            </a:pPr>
            <a:r>
              <a:rPr lang="en-US" sz="1150" dirty="0">
                <a:solidFill>
                  <a:srgbClr val="5B6B77"/>
                </a:solidFill>
                <a:latin typeface="Calibri" pitchFamily="34" charset="0"/>
                <a:ea typeface="Calibri" pitchFamily="34" charset="-122"/>
                <a:cs typeface="Calibri" pitchFamily="34" charset="-120"/>
              </a:rPr>
              <a:t>Pump action: 12 cm and 10.5 cm → ON;  7.5 cm and 3 cm → maintain;  1.5 cm → OFF. Mathematical examples, not all physically tested; 1.5 cm may be outside sensor range.</a:t>
            </a:r>
            <a:endParaRPr lang="en-US" sz="1150" dirty="0"/>
          </a:p>
        </p:txBody>
      </p:sp>
      <p:sp>
        <p:nvSpPr>
          <p:cNvPr id="8" name="Shape 5"/>
          <p:cNvSpPr/>
          <p:nvPr/>
        </p:nvSpPr>
        <p:spPr>
          <a:xfrm>
            <a:off x="4937760" y="914400"/>
            <a:ext cx="3749040" cy="3703320"/>
          </a:xfrm>
          <a:prstGeom prst="roundRect">
            <a:avLst>
              <a:gd name="adj" fmla="val 1975"/>
            </a:avLst>
          </a:prstGeom>
          <a:solidFill>
            <a:srgbClr val="EEF7FA"/>
          </a:solidFill>
          <a:ln w="12700">
            <a:solidFill>
              <a:srgbClr val="EEF7FA"/>
            </a:solidFill>
            <a:prstDash val="solid"/>
          </a:ln>
        </p:spPr>
      </p:sp>
      <p:sp>
        <p:nvSpPr>
          <p:cNvPr id="9" name="Text 6"/>
          <p:cNvSpPr txBox="1"/>
          <p:nvPr/>
        </p:nvSpPr>
        <p:spPr>
          <a:xfrm>
            <a:off x="5120640" y="1005840"/>
            <a:ext cx="338328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Discussion</a:t>
            </a:r>
            <a:endParaRPr lang="en-US" sz="1500" dirty="0"/>
          </a:p>
        </p:txBody>
      </p:sp>
      <p:sp>
        <p:nvSpPr>
          <p:cNvPr id="10" name="Text 7"/>
          <p:cNvSpPr txBox="1"/>
          <p:nvPr/>
        </p:nvSpPr>
        <p:spPr>
          <a:xfrm>
            <a:off x="5120640" y="1371600"/>
            <a:ext cx="3383280" cy="3108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Contactless level sensing plus flow data in one compact unit</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Local LCD reduces manual tank checks</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Automatic control limits overflow and needless pump runs</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Accuracy depends on calibration, wiring and measurement quality</a:t>
            </a:r>
            <a:endParaRPr lang="en-US" sz="1250" dirty="0"/>
          </a:p>
          <a:p>
            <a:pPr marL="342900" indent="-342900">
              <a:spcAft>
                <a:spcPts val="600"/>
              </a:spcAft>
              <a:buSzPct val="100000"/>
              <a:buChar char="•"/>
            </a:pPr>
            <a:r>
              <a:rPr lang="en-US" sz="1250" dirty="0">
                <a:solidFill>
                  <a:srgbClr val="1B2A35"/>
                </a:solidFill>
                <a:latin typeface="Calibri" pitchFamily="34" charset="0"/>
                <a:ea typeface="Calibri" pitchFamily="34" charset="-122"/>
                <a:cs typeface="Calibri" pitchFamily="34" charset="-120"/>
              </a:rPr>
              <a:t>Flow K-factor, TDS conversion and relay contacts need verification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Applications</a:t>
            </a:r>
            <a:endParaRPr lang="en-US" sz="3000" dirty="0"/>
          </a:p>
        </p:txBody>
      </p:sp>
      <p:sp>
        <p:nvSpPr>
          <p:cNvPr id="3" name="Text 1"/>
          <p:cNvSpPr txBox="1"/>
          <p:nvPr/>
        </p:nvSpPr>
        <p:spPr>
          <a:xfrm>
            <a:off x="457200" y="73152"/>
            <a:ext cx="5486400" cy="228600"/>
          </a:xfrm>
          <a:prstGeom prst="rect">
            <a:avLst/>
          </a:prstGeom>
          <a:noFill/>
          <a:ln/>
        </p:spPr>
        <p:txBody>
          <a:bodyPr wrap="square" lIns="0" tIns="0" rIns="0" bIns="0" rtlCol="0" anchor="ctr"/>
          <a:lstStyle/>
          <a:p>
            <a:pPr indent="0" marL="0">
              <a:buNone/>
            </a:pPr>
            <a:r>
              <a:rPr lang="en-US" sz="1100" b="1" spc="200" kern="0" dirty="0">
                <a:solidFill>
                  <a:srgbClr val="1789A8"/>
                </a:solidFill>
                <a:latin typeface="Calibri" pitchFamily="34" charset="0"/>
                <a:ea typeface="Calibri" pitchFamily="34" charset="-122"/>
                <a:cs typeface="Calibri" pitchFamily="34" charset="-120"/>
              </a:rPr>
              <a:t>08  APPLICATIONS</a:t>
            </a:r>
            <a:endParaRPr lang="en-US" sz="1100" dirty="0"/>
          </a:p>
        </p:txBody>
      </p:sp>
      <p:sp>
        <p:nvSpPr>
          <p:cNvPr id="4" name="Text 2"/>
          <p:cNvSpPr txBox="1"/>
          <p:nvPr/>
        </p:nvSpPr>
        <p:spPr>
          <a:xfrm>
            <a:off x="8229600" y="475488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15</a:t>
            </a:r>
            <a:endParaRPr lang="en-US" sz="1100" dirty="0"/>
          </a:p>
        </p:txBody>
      </p:sp>
      <p:sp>
        <p:nvSpPr>
          <p:cNvPr id="5" name="Text 3"/>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B6B77"/>
                </a:solidFill>
                <a:latin typeface="Calibri" pitchFamily="34" charset="0"/>
                <a:ea typeface="Calibri" pitchFamily="34" charset="-122"/>
                <a:cs typeface="Calibri" pitchFamily="34" charset="-120"/>
              </a:rPr>
              <a:t>Smart Water Tank Monitoring and Management System</a:t>
            </a:r>
            <a:endParaRPr lang="en-US" sz="1000" dirty="0"/>
          </a:p>
        </p:txBody>
      </p:sp>
      <p:sp>
        <p:nvSpPr>
          <p:cNvPr id="6" name="Shape 4"/>
          <p:cNvSpPr/>
          <p:nvPr/>
        </p:nvSpPr>
        <p:spPr>
          <a:xfrm>
            <a:off x="457200" y="10058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7" name="Shape 5"/>
          <p:cNvSpPr/>
          <p:nvPr/>
        </p:nvSpPr>
        <p:spPr>
          <a:xfrm>
            <a:off x="594360" y="1170432"/>
            <a:ext cx="475488" cy="475488"/>
          </a:xfrm>
          <a:prstGeom prst="ellipse">
            <a:avLst/>
          </a:prstGeom>
          <a:solidFill>
            <a:srgbClr val="1789A8"/>
          </a:solidFill>
          <a:ln w="12700">
            <a:solidFill>
              <a:srgbClr val="1789A8"/>
            </a:solidFill>
            <a:prstDash val="solid"/>
          </a:ln>
        </p:spPr>
        <p:txBody>
          <a:bodyPr/>
          <a:p/>
        </p:txBody>
      </p:sp>
      <p:sp>
        <p:nvSpPr>
          <p:cNvPr id="8" name="Text 6"/>
          <p:cNvSpPr txBox="1"/>
          <p:nvPr/>
        </p:nvSpPr>
        <p:spPr>
          <a:xfrm>
            <a:off x="594360" y="11704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34440" y="10972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Residential tanks</a:t>
            </a:r>
            <a:endParaRPr lang="en-US" sz="1500" dirty="0"/>
          </a:p>
        </p:txBody>
      </p:sp>
      <p:sp>
        <p:nvSpPr>
          <p:cNvPr id="10" name="Text 8"/>
          <p:cNvSpPr txBox="1"/>
          <p:nvPr/>
        </p:nvSpPr>
        <p:spPr>
          <a:xfrm>
            <a:off x="1234440" y="14173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Overhead and underground tanks with automated pumps</a:t>
            </a:r>
            <a:endParaRPr lang="en-US" sz="1200" dirty="0"/>
          </a:p>
        </p:txBody>
      </p:sp>
      <p:sp>
        <p:nvSpPr>
          <p:cNvPr id="11" name="Shape 9"/>
          <p:cNvSpPr/>
          <p:nvPr/>
        </p:nvSpPr>
        <p:spPr>
          <a:xfrm>
            <a:off x="4663440" y="10058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12" name="Shape 10"/>
          <p:cNvSpPr/>
          <p:nvPr/>
        </p:nvSpPr>
        <p:spPr>
          <a:xfrm>
            <a:off x="4800600" y="1170432"/>
            <a:ext cx="475488" cy="475488"/>
          </a:xfrm>
          <a:prstGeom prst="ellipse">
            <a:avLst/>
          </a:prstGeom>
          <a:solidFill>
            <a:srgbClr val="1789A8"/>
          </a:solidFill>
          <a:ln w="12700">
            <a:solidFill>
              <a:srgbClr val="1789A8"/>
            </a:solidFill>
            <a:prstDash val="solid"/>
          </a:ln>
        </p:spPr>
        <p:txBody>
          <a:bodyPr/>
          <a:p/>
        </p:txBody>
      </p:sp>
      <p:sp>
        <p:nvSpPr>
          <p:cNvPr id="13" name="Text 11"/>
          <p:cNvSpPr txBox="1"/>
          <p:nvPr/>
        </p:nvSpPr>
        <p:spPr>
          <a:xfrm>
            <a:off x="4800600" y="11704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5440680" y="10972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Apartment buildings</a:t>
            </a:r>
            <a:endParaRPr lang="en-US" sz="1500" dirty="0"/>
          </a:p>
        </p:txBody>
      </p:sp>
      <p:sp>
        <p:nvSpPr>
          <p:cNvPr id="15" name="Text 13"/>
          <p:cNvSpPr txBox="1"/>
          <p:nvPr/>
        </p:nvSpPr>
        <p:spPr>
          <a:xfrm>
            <a:off x="5440680" y="14173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Multiple units tracking level and consumption</a:t>
            </a:r>
            <a:endParaRPr lang="en-US" sz="1200" dirty="0"/>
          </a:p>
        </p:txBody>
      </p:sp>
      <p:sp>
        <p:nvSpPr>
          <p:cNvPr id="16" name="Shape 14"/>
          <p:cNvSpPr/>
          <p:nvPr/>
        </p:nvSpPr>
        <p:spPr>
          <a:xfrm>
            <a:off x="457200" y="19202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17" name="Shape 15"/>
          <p:cNvSpPr/>
          <p:nvPr/>
        </p:nvSpPr>
        <p:spPr>
          <a:xfrm>
            <a:off x="594360" y="2084832"/>
            <a:ext cx="475488" cy="475488"/>
          </a:xfrm>
          <a:prstGeom prst="ellipse">
            <a:avLst/>
          </a:prstGeom>
          <a:solidFill>
            <a:srgbClr val="1789A8"/>
          </a:solidFill>
          <a:ln w="12700">
            <a:solidFill>
              <a:srgbClr val="1789A8"/>
            </a:solidFill>
            <a:prstDash val="solid"/>
          </a:ln>
        </p:spPr>
        <p:txBody>
          <a:bodyPr/>
          <a:p/>
        </p:txBody>
      </p:sp>
      <p:sp>
        <p:nvSpPr>
          <p:cNvPr id="18" name="Text 16"/>
          <p:cNvSpPr txBox="1"/>
          <p:nvPr/>
        </p:nvSpPr>
        <p:spPr>
          <a:xfrm>
            <a:off x="594360" y="20848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234440" y="20116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Educational institutions</a:t>
            </a:r>
            <a:endParaRPr lang="en-US" sz="1500" dirty="0"/>
          </a:p>
        </p:txBody>
      </p:sp>
      <p:sp>
        <p:nvSpPr>
          <p:cNvPr id="20" name="Text 18"/>
          <p:cNvSpPr txBox="1"/>
          <p:nvPr/>
        </p:nvSpPr>
        <p:spPr>
          <a:xfrm>
            <a:off x="1234440" y="23317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Schools, colleges, labs and hostels</a:t>
            </a:r>
            <a:endParaRPr lang="en-US" sz="1200" dirty="0"/>
          </a:p>
        </p:txBody>
      </p:sp>
      <p:sp>
        <p:nvSpPr>
          <p:cNvPr id="21" name="Shape 19"/>
          <p:cNvSpPr/>
          <p:nvPr/>
        </p:nvSpPr>
        <p:spPr>
          <a:xfrm>
            <a:off x="4663440" y="19202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22" name="Shape 20"/>
          <p:cNvSpPr/>
          <p:nvPr/>
        </p:nvSpPr>
        <p:spPr>
          <a:xfrm>
            <a:off x="4800600" y="2084832"/>
            <a:ext cx="475488" cy="475488"/>
          </a:xfrm>
          <a:prstGeom prst="ellipse">
            <a:avLst/>
          </a:prstGeom>
          <a:solidFill>
            <a:srgbClr val="1789A8"/>
          </a:solidFill>
          <a:ln w="12700">
            <a:solidFill>
              <a:srgbClr val="1789A8"/>
            </a:solidFill>
            <a:prstDash val="solid"/>
          </a:ln>
        </p:spPr>
        <p:txBody>
          <a:bodyPr/>
          <a:p/>
        </p:txBody>
      </p:sp>
      <p:sp>
        <p:nvSpPr>
          <p:cNvPr id="23" name="Text 21"/>
          <p:cNvSpPr txBox="1"/>
          <p:nvPr/>
        </p:nvSpPr>
        <p:spPr>
          <a:xfrm>
            <a:off x="4800600" y="20848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5440680" y="20116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Agriculture</a:t>
            </a:r>
            <a:endParaRPr lang="en-US" sz="1500" dirty="0"/>
          </a:p>
        </p:txBody>
      </p:sp>
      <p:sp>
        <p:nvSpPr>
          <p:cNvPr id="25" name="Text 23"/>
          <p:cNvSpPr txBox="1"/>
          <p:nvPr/>
        </p:nvSpPr>
        <p:spPr>
          <a:xfrm>
            <a:off x="5440680" y="23317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Small water distribution and storage systems</a:t>
            </a:r>
            <a:endParaRPr lang="en-US" sz="1200" dirty="0"/>
          </a:p>
        </p:txBody>
      </p:sp>
      <p:sp>
        <p:nvSpPr>
          <p:cNvPr id="26" name="Shape 24"/>
          <p:cNvSpPr/>
          <p:nvPr/>
        </p:nvSpPr>
        <p:spPr>
          <a:xfrm>
            <a:off x="457200" y="28346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27" name="Shape 25"/>
          <p:cNvSpPr/>
          <p:nvPr/>
        </p:nvSpPr>
        <p:spPr>
          <a:xfrm>
            <a:off x="594360" y="2999232"/>
            <a:ext cx="475488" cy="475488"/>
          </a:xfrm>
          <a:prstGeom prst="ellipse">
            <a:avLst/>
          </a:prstGeom>
          <a:solidFill>
            <a:srgbClr val="1789A8"/>
          </a:solidFill>
          <a:ln w="12700">
            <a:solidFill>
              <a:srgbClr val="1789A8"/>
            </a:solidFill>
            <a:prstDash val="solid"/>
          </a:ln>
        </p:spPr>
        <p:txBody>
          <a:bodyPr/>
          <a:p/>
        </p:txBody>
      </p:sp>
      <p:sp>
        <p:nvSpPr>
          <p:cNvPr id="28" name="Text 26"/>
          <p:cNvSpPr txBox="1"/>
          <p:nvPr/>
        </p:nvSpPr>
        <p:spPr>
          <a:xfrm>
            <a:off x="594360" y="29992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1234440" y="29260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Industrial storage</a:t>
            </a:r>
            <a:endParaRPr lang="en-US" sz="1500" dirty="0"/>
          </a:p>
        </p:txBody>
      </p:sp>
      <p:sp>
        <p:nvSpPr>
          <p:cNvPr id="30" name="Text 28"/>
          <p:cNvSpPr txBox="1"/>
          <p:nvPr/>
        </p:nvSpPr>
        <p:spPr>
          <a:xfrm>
            <a:off x="1234440" y="32461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Level measurement and pump management</a:t>
            </a:r>
            <a:endParaRPr lang="en-US" sz="1200" dirty="0"/>
          </a:p>
        </p:txBody>
      </p:sp>
      <p:sp>
        <p:nvSpPr>
          <p:cNvPr id="31" name="Shape 29"/>
          <p:cNvSpPr/>
          <p:nvPr/>
        </p:nvSpPr>
        <p:spPr>
          <a:xfrm>
            <a:off x="4663440" y="2834640"/>
            <a:ext cx="4023360" cy="804672"/>
          </a:xfrm>
          <a:prstGeom prst="roundRect">
            <a:avLst>
              <a:gd name="adj" fmla="val 9091"/>
            </a:avLst>
          </a:prstGeom>
          <a:solidFill>
            <a:srgbClr val="EEF7FA"/>
          </a:solidFill>
          <a:ln w="12700">
            <a:solidFill>
              <a:srgbClr val="EEF7FA"/>
            </a:solidFill>
            <a:prstDash val="solid"/>
          </a:ln>
        </p:spPr>
        <p:txBody>
          <a:bodyPr/>
          <a:p/>
        </p:txBody>
      </p:sp>
      <p:sp>
        <p:nvSpPr>
          <p:cNvPr id="32" name="Shape 30"/>
          <p:cNvSpPr/>
          <p:nvPr/>
        </p:nvSpPr>
        <p:spPr>
          <a:xfrm>
            <a:off x="4800600" y="2999232"/>
            <a:ext cx="475488" cy="475488"/>
          </a:xfrm>
          <a:prstGeom prst="ellipse">
            <a:avLst/>
          </a:prstGeom>
          <a:solidFill>
            <a:srgbClr val="1789A8"/>
          </a:solidFill>
          <a:ln w="12700">
            <a:solidFill>
              <a:srgbClr val="1789A8"/>
            </a:solidFill>
            <a:prstDash val="solid"/>
          </a:ln>
        </p:spPr>
        <p:txBody>
          <a:bodyPr/>
          <a:p/>
        </p:txBody>
      </p:sp>
      <p:sp>
        <p:nvSpPr>
          <p:cNvPr id="33" name="Text 31"/>
          <p:cNvSpPr txBox="1"/>
          <p:nvPr/>
        </p:nvSpPr>
        <p:spPr>
          <a:xfrm>
            <a:off x="4800600" y="29992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txBox="1"/>
          <p:nvPr/>
        </p:nvSpPr>
        <p:spPr>
          <a:xfrm>
            <a:off x="5440680" y="2926080"/>
            <a:ext cx="310896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Consumption monitoring</a:t>
            </a:r>
            <a:endParaRPr lang="en-US" sz="1500" dirty="0"/>
          </a:p>
        </p:txBody>
      </p:sp>
      <p:sp>
        <p:nvSpPr>
          <p:cNvPr id="35" name="Text 33"/>
          <p:cNvSpPr txBox="1"/>
          <p:nvPr/>
        </p:nvSpPr>
        <p:spPr>
          <a:xfrm>
            <a:off x="5440680" y="3246120"/>
            <a:ext cx="3108960" cy="320040"/>
          </a:xfrm>
          <a:prstGeom prst="rect">
            <a:avLst/>
          </a:prstGeom>
          <a:noFill/>
          <a:ln/>
        </p:spPr>
        <p:txBody>
          <a:bodyPr wrap="square" lIns="0" tIns="0" rIns="0" bIns="0" rtlCol="0" anchor="t"/>
          <a:lstStyle/>
          <a:p>
            <a:pPr indent="0" marL="0">
              <a:buNone/>
            </a:pPr>
            <a:r>
              <a:rPr lang="en-US" sz="1200" dirty="0">
                <a:solidFill>
                  <a:srgbClr val="5B6B77"/>
                </a:solidFill>
                <a:latin typeface="Calibri" pitchFamily="34" charset="0"/>
                <a:ea typeface="Calibri" pitchFamily="34" charset="-122"/>
                <a:cs typeface="Calibri" pitchFamily="34" charset="-120"/>
              </a:rPr>
              <a:t>Estimate usage; spot unusual changes</a:t>
            </a:r>
            <a:endParaRPr lang="en-US" sz="1200" dirty="0"/>
          </a:p>
        </p:txBody>
      </p:sp>
      <p:sp>
        <p:nvSpPr>
          <p:cNvPr id="36" name="Shape 34"/>
          <p:cNvSpPr/>
          <p:nvPr/>
        </p:nvSpPr>
        <p:spPr>
          <a:xfrm>
            <a:off x="457200" y="3749040"/>
            <a:ext cx="8229600" cy="804672"/>
          </a:xfrm>
          <a:prstGeom prst="roundRect">
            <a:avLst>
              <a:gd name="adj" fmla="val 9091"/>
            </a:avLst>
          </a:prstGeom>
          <a:solidFill>
            <a:srgbClr val="CDEBF3"/>
          </a:solidFill>
          <a:ln w="12700">
            <a:solidFill>
              <a:srgbClr val="CDEBF3"/>
            </a:solidFill>
            <a:prstDash val="solid"/>
          </a:ln>
        </p:spPr>
        <p:txBody>
          <a:bodyPr/>
          <a:p/>
        </p:txBody>
      </p:sp>
      <p:sp>
        <p:nvSpPr>
          <p:cNvPr id="37" name="Shape 35"/>
          <p:cNvSpPr/>
          <p:nvPr/>
        </p:nvSpPr>
        <p:spPr>
          <a:xfrm>
            <a:off x="594360" y="3913632"/>
            <a:ext cx="475488" cy="475488"/>
          </a:xfrm>
          <a:prstGeom prst="ellipse">
            <a:avLst/>
          </a:prstGeom>
          <a:solidFill>
            <a:srgbClr val="0B3C5D"/>
          </a:solidFill>
          <a:ln w="12700">
            <a:solidFill>
              <a:srgbClr val="0B3C5D"/>
            </a:solidFill>
            <a:prstDash val="solid"/>
          </a:ln>
        </p:spPr>
        <p:txBody>
          <a:bodyPr/>
          <a:p/>
        </p:txBody>
      </p:sp>
      <p:sp>
        <p:nvSpPr>
          <p:cNvPr id="38" name="Text 36"/>
          <p:cNvSpPr txBox="1"/>
          <p:nvPr/>
        </p:nvSpPr>
        <p:spPr>
          <a:xfrm>
            <a:off x="594360" y="39136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9" name="Text 37"/>
          <p:cNvSpPr txBox="1"/>
          <p:nvPr/>
        </p:nvSpPr>
        <p:spPr>
          <a:xfrm>
            <a:off x="1234440" y="3840480"/>
            <a:ext cx="7315200" cy="274320"/>
          </a:xfrm>
          <a:prstGeom prst="rect">
            <a:avLst/>
          </a:prstGeom>
          <a:noFill/>
          <a:ln/>
        </p:spPr>
        <p:txBody>
          <a:bodyPr wrap="square" lIns="0" tIns="0" rIns="0" bIns="0" rtlCol="0" anchor="t"/>
          <a:lstStyle/>
          <a:p>
            <a:pPr indent="0" marL="0">
              <a:buNone/>
            </a:pPr>
            <a:r>
              <a:rPr lang="en-US" sz="1500" b="1" dirty="0">
                <a:solidFill>
                  <a:srgbClr val="0B3C5D"/>
                </a:solidFill>
                <a:latin typeface="Calibri" pitchFamily="34" charset="0"/>
                <a:ea typeface="Calibri" pitchFamily="34" charset="-122"/>
                <a:cs typeface="Calibri" pitchFamily="34" charset="-120"/>
              </a:rPr>
              <a:t>Remote IoT monitoring</a:t>
            </a:r>
            <a:endParaRPr lang="en-US" sz="1500" dirty="0"/>
          </a:p>
        </p:txBody>
      </p:sp>
      <p:sp>
        <p:nvSpPr>
          <p:cNvPr id="40" name="Text 38"/>
          <p:cNvSpPr txBox="1"/>
          <p:nvPr/>
        </p:nvSpPr>
        <p:spPr>
          <a:xfrm>
            <a:off x="1234440" y="4160520"/>
            <a:ext cx="7315200" cy="320040"/>
          </a:xfrm>
          <a:prstGeom prst="rect">
            <a:avLst/>
          </a:prstGeom>
          <a:noFill/>
          <a:ln/>
        </p:spPr>
        <p:txBody>
          <a:bodyPr wrap="square" lIns="0" tIns="0" rIns="0" bIns="0" rtlCol="0" anchor="t"/>
          <a:lstStyle/>
          <a:p>
            <a:pPr indent="0" marL="0">
              <a:buNone/>
              <a:defRPr sz="1100" b="0">
                <a:solidFill>
                  <a:srgbClr val="273443"/>
                </a:solidFill>
              </a:defRPr>
            </a:pPr>
            <a:r>
              <a:t>HiveMQ MQTT, Node.js API, PostgreSQL history, live dashboard and alerts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C5D"/>
        </a:solidFill>
      </p:bgPr>
    </p:bg>
    <p:spTree>
      <p:nvGrpSpPr>
        <p:cNvPr id="1" name=""/>
        <p:cNvGrpSpPr/>
        <p:nvPr/>
      </p:nvGrpSpPr>
      <p:grpSpPr>
        <a:xfrm>
          <a:off x="0" y="0"/>
          <a:ext cx="0" cy="0"/>
          <a:chOff x="0" y="0"/>
          <a:chExt cx="0" cy="0"/>
        </a:xfrm>
      </p:grpSpPr>
      <p:sp>
        <p:nvSpPr>
          <p:cNvPr id="2" name="Shape 0"/>
          <p:cNvSpPr/>
          <p:nvPr/>
        </p:nvSpPr>
        <p:spPr>
          <a:xfrm>
            <a:off x="6949440" y="2926080"/>
            <a:ext cx="3291840" cy="3291840"/>
          </a:xfrm>
          <a:prstGeom prst="ellipse">
            <a:avLst/>
          </a:prstGeom>
          <a:solidFill>
            <a:srgbClr val="1789A8">
              <a:alpha val="45000"/>
            </a:srgbClr>
          </a:solidFill>
          <a:ln w="12700">
            <a:solidFill>
              <a:srgbClr val="1789A8">
                <a:alpha val="0"/>
              </a:srgbClr>
            </a:solidFill>
            <a:prstDash val="solid"/>
          </a:ln>
        </p:spPr>
        <p:txBody>
          <a:bodyPr/>
          <a:p/>
        </p:txBody>
      </p:sp>
      <p:sp>
        <p:nvSpPr>
          <p:cNvPr id="3" name="Text 1"/>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and Future Scope</a:t>
            </a:r>
            <a:endParaRPr lang="en-US" sz="3000" dirty="0"/>
          </a:p>
        </p:txBody>
      </p:sp>
      <p:sp>
        <p:nvSpPr>
          <p:cNvPr id="4" name="Text 2"/>
          <p:cNvSpPr txBox="1"/>
          <p:nvPr/>
        </p:nvSpPr>
        <p:spPr>
          <a:xfrm>
            <a:off x="457200" y="1051560"/>
            <a:ext cx="3931920" cy="274320"/>
          </a:xfrm>
          <a:prstGeom prst="rect">
            <a:avLst/>
          </a:prstGeom>
          <a:noFill/>
          <a:ln/>
        </p:spPr>
        <p:txBody>
          <a:bodyPr wrap="square" lIns="0" tIns="0" rIns="0" bIns="0" rtlCol="0" anchor="t"/>
          <a:lstStyle/>
          <a:p>
            <a:pPr indent="0" marL="0">
              <a:buNone/>
            </a:pPr>
            <a:r>
              <a:rPr lang="en-US" sz="1500" b="1" dirty="0">
                <a:solidFill>
                  <a:srgbClr val="F2A541"/>
                </a:solidFill>
                <a:latin typeface="Calibri" pitchFamily="34" charset="0"/>
                <a:ea typeface="Calibri" pitchFamily="34" charset="-122"/>
                <a:cs typeface="Calibri" pitchFamily="34" charset="-120"/>
              </a:rPr>
              <a:t>Conclusion</a:t>
            </a:r>
            <a:endParaRPr lang="en-US" sz="1500" dirty="0"/>
          </a:p>
        </p:txBody>
      </p:sp>
      <p:sp>
        <p:nvSpPr>
          <p:cNvPr id="5" name="Text 3"/>
          <p:cNvSpPr txBox="1"/>
          <p:nvPr/>
        </p:nvSpPr>
        <p:spPr>
          <a:xfrm>
            <a:off x="457200" y="1417320"/>
            <a:ext cx="39319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ESP32 integrates ultrasonic, flow and TDS sensing with relay control, LCD and buzzer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Pump ON at ≤30%, OFF at ≥90% reduces manual monitoring</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Shows how embedded automation supports water conservation</a:t>
            </a:r>
            <a:endParaRPr lang="en-US" sz="1400" dirty="0"/>
          </a:p>
        </p:txBody>
      </p:sp>
      <p:sp>
        <p:nvSpPr>
          <p:cNvPr id="6" name="Text 4"/>
          <p:cNvSpPr txBox="1"/>
          <p:nvPr/>
        </p:nvSpPr>
        <p:spPr>
          <a:xfrm>
            <a:off x="4754880" y="1051560"/>
            <a:ext cx="3931920" cy="274320"/>
          </a:xfrm>
          <a:prstGeom prst="rect">
            <a:avLst/>
          </a:prstGeom>
          <a:noFill/>
          <a:ln/>
        </p:spPr>
        <p:txBody>
          <a:bodyPr wrap="square" lIns="0" tIns="0" rIns="0" bIns="0" rtlCol="0" anchor="t"/>
          <a:lstStyle/>
          <a:p>
            <a:pPr indent="0" marL="0">
              <a:buNone/>
              <a:defRPr sz="1600" b="1">
                <a:solidFill>
                  <a:srgbClr val="12263F"/>
                </a:solidFill>
              </a:defRPr>
            </a:pPr>
            <a:r>
              <a:t>Next improvements</a:t>
            </a:r>
            <a:endParaRPr lang="en-US" sz="1500" dirty="0"/>
          </a:p>
        </p:txBody>
      </p:sp>
      <p:sp>
        <p:nvSpPr>
          <p:cNvPr id="7" name="Text 5"/>
          <p:cNvSpPr txBox="1"/>
          <p:nvPr/>
        </p:nvSpPr>
        <p:spPr>
          <a:xfrm>
            <a:off x="4754880" y="1417320"/>
            <a:ext cx="39319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Sensor calibration and better placement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Electrical safety verification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Cloud integration (Wi-Fi, MQTT)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Historical data storage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Mobile / web dashboard</a:t>
            </a:r>
            <a:endParaRPr lang="en-US" sz="1400" dirty="0"/>
          </a:p>
        </p:txBody>
      </p:sp>
      <p:sp>
        <p:nvSpPr>
          <p:cNvPr id="8" name="Text 6"/>
          <p:cNvSpPr txBox="1"/>
          <p:nvPr/>
        </p:nvSpPr>
        <p:spPr>
          <a:xfrm>
            <a:off x="457200" y="3840480"/>
            <a:ext cx="6217920" cy="640080"/>
          </a:xfrm>
          <a:prstGeom prst="rect">
            <a:avLst/>
          </a:prstGeom>
          <a:noFill/>
          <a:ln/>
        </p:spPr>
        <p:txBody>
          <a:bodyPr wrap="square" lIns="0" tIns="0" rIns="0" bIns="0" rtlCol="0" anchor="t"/>
          <a:lstStyle/>
          <a:p>
            <a:pPr indent="0" marL="0">
              <a:buNone/>
              <a:defRPr sz="900" b="0">
                <a:solidFill>
                  <a:srgbClr val="647484"/>
                </a:solidFill>
              </a:defRPr>
            </a:pPr>
            <a:r>
              <a:t>References: Espressif ESP32 docs • MQTT/HiveMQ docs • Node.js/Express docs • PostgreSQL docs • HC-SR04, YF-402, TDS and relay module datasheets</a:t>
            </a:r>
            <a:endParaRPr lang="en-US" sz="1100" dirty="0"/>
          </a:p>
        </p:txBody>
      </p:sp>
      <p:sp>
        <p:nvSpPr>
          <p:cNvPr id="9" name="Text 7"/>
          <p:cNvSpPr txBox="1"/>
          <p:nvPr/>
        </p:nvSpPr>
        <p:spPr>
          <a:xfrm>
            <a:off x="457200" y="4434840"/>
            <a:ext cx="365760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46304"/>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292608"/>
          </a:xfrm>
          <a:prstGeom prst="rect">
            <a:avLst/>
          </a:prstGeom>
          <a:noFill/>
        </p:spPr>
        <p:txBody>
          <a:bodyPr wrap="none">
            <a:spAutoFit/>
          </a:bodyPr>
          <a:lstStyle/>
          <a:p>
            <a:pPr>
              <a:defRPr sz="1000" b="1">
                <a:solidFill>
                  <a:srgbClr val="2AA9C4"/>
                </a:solidFill>
                <a:latin typeface="Aptos"/>
              </a:defRPr>
            </a:pPr>
            <a:r>
              <a:t>08  CLOUD CONNECTIVITY</a:t>
            </a:r>
          </a:p>
        </p:txBody>
      </p:sp>
      <p:sp>
        <p:nvSpPr>
          <p:cNvPr id="4" name="TextBox 3"/>
          <p:cNvSpPr txBox="1"/>
          <p:nvPr/>
        </p:nvSpPr>
        <p:spPr>
          <a:xfrm>
            <a:off x="502920" y="612648"/>
            <a:ext cx="11064240" cy="530352"/>
          </a:xfrm>
          <a:prstGeom prst="rect">
            <a:avLst/>
          </a:prstGeom>
          <a:noFill/>
        </p:spPr>
        <p:txBody>
          <a:bodyPr wrap="none">
            <a:spAutoFit/>
          </a:bodyPr>
          <a:lstStyle/>
          <a:p>
            <a:pPr>
              <a:defRPr sz="2700" b="1">
                <a:solidFill>
                  <a:srgbClr val="12263F"/>
                </a:solidFill>
                <a:latin typeface="Aptos Display"/>
              </a:defRPr>
            </a:pPr>
            <a:r>
              <a:t>HiveMQ Cloud and MQTT Messaging</a:t>
            </a:r>
          </a:p>
        </p:txBody>
      </p:sp>
      <p:sp>
        <p:nvSpPr>
          <p:cNvPr id="5" name="TextBox 4"/>
          <p:cNvSpPr txBox="1"/>
          <p:nvPr/>
        </p:nvSpPr>
        <p:spPr>
          <a:xfrm>
            <a:off x="530352" y="1161288"/>
            <a:ext cx="10972800" cy="329184"/>
          </a:xfrm>
          <a:prstGeom prst="rect">
            <a:avLst/>
          </a:prstGeom>
          <a:noFill/>
        </p:spPr>
        <p:txBody>
          <a:bodyPr wrap="none">
            <a:spAutoFit/>
          </a:bodyPr>
          <a:lstStyle/>
          <a:p>
            <a:pPr>
              <a:defRPr sz="1100">
                <a:solidFill>
                  <a:srgbClr val="647484"/>
                </a:solidFill>
                <a:latin typeface="Aptos"/>
              </a:defRPr>
            </a:pPr>
            <a:r>
              <a:t>The broker routes telemetry and control messages between the ESP32 and the backend.</a:t>
            </a:r>
          </a:p>
        </p:txBody>
      </p:sp>
      <p:sp>
        <p:nvSpPr>
          <p:cNvPr id="6" name="TextBox 5"/>
          <p:cNvSpPr txBox="1"/>
          <p:nvPr/>
        </p:nvSpPr>
        <p:spPr>
          <a:xfrm>
            <a:off x="11247120" y="6510528"/>
            <a:ext cx="411480" cy="201168"/>
          </a:xfrm>
          <a:prstGeom prst="rect">
            <a:avLst/>
          </a:prstGeom>
          <a:noFill/>
        </p:spPr>
        <p:txBody>
          <a:bodyPr wrap="none">
            <a:spAutoFit/>
          </a:bodyPr>
          <a:lstStyle/>
          <a:p>
            <a:pPr algn="r">
              <a:defRPr sz="900">
                <a:solidFill>
                  <a:srgbClr val="647484"/>
                </a:solidFill>
              </a:defRPr>
            </a:pPr>
            <a:r>
              <a:t>17</a:t>
            </a:r>
          </a:p>
        </p:txBody>
      </p:sp>
      <p:sp>
        <p:nvSpPr>
          <p:cNvPr id="7" name="Rounded Rectangle 6"/>
          <p:cNvSpPr/>
          <p:nvPr/>
        </p:nvSpPr>
        <p:spPr>
          <a:xfrm>
            <a:off x="594360" y="1874519"/>
            <a:ext cx="2148840" cy="960120"/>
          </a:xfrm>
          <a:prstGeom prst="roundRect">
            <a:avLst/>
          </a:prstGeom>
          <a:solidFill>
            <a:srgbClr val="EDF5FC"/>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ESP32 device</a:t>
            </a:r>
          </a:p>
          <a:p>
            <a:pPr algn="ctr">
              <a:defRPr sz="1000">
                <a:solidFill>
                  <a:srgbClr val="273443"/>
                </a:solidFill>
                <a:latin typeface="Aptos"/>
              </a:defRPr>
            </a:pPr>
            <a:r>
              <a:t>Sensors • local control</a:t>
            </a:r>
          </a:p>
        </p:txBody>
      </p:sp>
      <p:sp>
        <p:nvSpPr>
          <p:cNvPr id="8" name="Rounded Rectangle 7"/>
          <p:cNvSpPr/>
          <p:nvPr/>
        </p:nvSpPr>
        <p:spPr>
          <a:xfrm>
            <a:off x="3337560" y="1874519"/>
            <a:ext cx="2331720" cy="960120"/>
          </a:xfrm>
          <a:prstGeom prst="roundRect">
            <a:avLst/>
          </a:prstGeom>
          <a:solidFill>
            <a:srgbClr val="DCF3F8"/>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HiveMQ Cloud</a:t>
            </a:r>
          </a:p>
          <a:p>
            <a:pPr algn="ctr">
              <a:defRPr sz="1000">
                <a:solidFill>
                  <a:srgbClr val="273443"/>
                </a:solidFill>
                <a:latin typeface="Aptos"/>
              </a:defRPr>
            </a:pPr>
            <a:r>
              <a:t>MQTT broker • TLS port 8883</a:t>
            </a:r>
          </a:p>
        </p:txBody>
      </p:sp>
      <p:sp>
        <p:nvSpPr>
          <p:cNvPr id="9" name="Rounded Rectangle 8"/>
          <p:cNvSpPr/>
          <p:nvPr/>
        </p:nvSpPr>
        <p:spPr>
          <a:xfrm>
            <a:off x="6263640" y="1874519"/>
            <a:ext cx="2331720" cy="960120"/>
          </a:xfrm>
          <a:prstGeom prst="roundRect">
            <a:avLst/>
          </a:prstGeom>
          <a:solidFill>
            <a:srgbClr val="E2EFFF"/>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Node.js / Express</a:t>
            </a:r>
          </a:p>
          <a:p>
            <a:pPr algn="ctr">
              <a:defRPr sz="1000">
                <a:solidFill>
                  <a:srgbClr val="273443"/>
                </a:solidFill>
                <a:latin typeface="Aptos"/>
              </a:defRPr>
            </a:pPr>
            <a:r>
              <a:t>MQTT subscriber + REST API</a:t>
            </a:r>
          </a:p>
        </p:txBody>
      </p:sp>
      <p:sp>
        <p:nvSpPr>
          <p:cNvPr id="10" name="Rounded Rectangle 9"/>
          <p:cNvSpPr/>
          <p:nvPr/>
        </p:nvSpPr>
        <p:spPr>
          <a:xfrm>
            <a:off x="9189720" y="1874519"/>
            <a:ext cx="2331720" cy="960120"/>
          </a:xfrm>
          <a:prstGeom prst="roundRect">
            <a:avLst/>
          </a:prstGeom>
          <a:solidFill>
            <a:srgbClr val="E6F5ED"/>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PostgreSQL</a:t>
            </a:r>
          </a:p>
          <a:p>
            <a:pPr algn="ctr">
              <a:defRPr sz="1000">
                <a:solidFill>
                  <a:srgbClr val="273443"/>
                </a:solidFill>
                <a:latin typeface="Aptos"/>
              </a:defRPr>
            </a:pPr>
            <a:r>
              <a:t>Historical telemetry</a:t>
            </a:r>
          </a:p>
        </p:txBody>
      </p:sp>
      <p:cxnSp>
        <p:nvCxnSpPr>
          <p:cNvPr id="11" name="Connector 10"/>
          <p:cNvCxnSpPr/>
          <p:nvPr/>
        </p:nvCxnSpPr>
        <p:spPr>
          <a:xfrm>
            <a:off x="2743200" y="2212848"/>
            <a:ext cx="594360" cy="0"/>
          </a:xfrm>
          <a:prstGeom prst="line">
            <a:avLst/>
          </a:prstGeom>
          <a:ln w="2540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669280" y="2212848"/>
            <a:ext cx="594360" cy="0"/>
          </a:xfrm>
          <a:prstGeom prst="line">
            <a:avLst/>
          </a:prstGeom>
          <a:ln w="25400">
            <a:solidFill>
              <a:srgbClr val="2669B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95360" y="2212848"/>
            <a:ext cx="594360" cy="0"/>
          </a:xfrm>
          <a:prstGeom prst="line">
            <a:avLst/>
          </a:prstGeom>
          <a:ln w="25400">
            <a:solidFill>
              <a:srgbClr val="1F8F6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78608" y="1609344"/>
            <a:ext cx="868680" cy="201168"/>
          </a:xfrm>
          <a:prstGeom prst="rect">
            <a:avLst/>
          </a:prstGeom>
          <a:noFill/>
        </p:spPr>
        <p:txBody>
          <a:bodyPr wrap="none">
            <a:spAutoFit/>
          </a:bodyPr>
          <a:lstStyle/>
          <a:p>
            <a:pPr algn="ctr">
              <a:defRPr sz="900">
                <a:solidFill>
                  <a:srgbClr val="647484"/>
                </a:solidFill>
              </a:defRPr>
            </a:pPr>
            <a:r>
              <a:t>publish</a:t>
            </a:r>
          </a:p>
        </p:txBody>
      </p:sp>
      <p:sp>
        <p:nvSpPr>
          <p:cNvPr id="15" name="TextBox 14"/>
          <p:cNvSpPr txBox="1"/>
          <p:nvPr/>
        </p:nvSpPr>
        <p:spPr>
          <a:xfrm>
            <a:off x="5532120" y="1609344"/>
            <a:ext cx="868680" cy="201168"/>
          </a:xfrm>
          <a:prstGeom prst="rect">
            <a:avLst/>
          </a:prstGeom>
          <a:noFill/>
        </p:spPr>
        <p:txBody>
          <a:bodyPr wrap="none">
            <a:spAutoFit/>
          </a:bodyPr>
          <a:lstStyle/>
          <a:p>
            <a:pPr algn="ctr">
              <a:defRPr sz="900">
                <a:solidFill>
                  <a:srgbClr val="647484"/>
                </a:solidFill>
              </a:defRPr>
            </a:pPr>
            <a:r>
              <a:t>subscribe</a:t>
            </a:r>
          </a:p>
        </p:txBody>
      </p:sp>
      <p:sp>
        <p:nvSpPr>
          <p:cNvPr id="16" name="TextBox 15"/>
          <p:cNvSpPr txBox="1"/>
          <p:nvPr/>
        </p:nvSpPr>
        <p:spPr>
          <a:xfrm>
            <a:off x="8439912" y="1609344"/>
            <a:ext cx="868680" cy="201168"/>
          </a:xfrm>
          <a:prstGeom prst="rect">
            <a:avLst/>
          </a:prstGeom>
          <a:noFill/>
        </p:spPr>
        <p:txBody>
          <a:bodyPr wrap="none">
            <a:spAutoFit/>
          </a:bodyPr>
          <a:lstStyle/>
          <a:p>
            <a:pPr algn="ctr">
              <a:defRPr sz="900">
                <a:solidFill>
                  <a:srgbClr val="647484"/>
                </a:solidFill>
              </a:defRPr>
            </a:pPr>
            <a:r>
              <a:t>insert</a:t>
            </a:r>
          </a:p>
        </p:txBody>
      </p:sp>
      <p:sp>
        <p:nvSpPr>
          <p:cNvPr id="17" name="Rounded Rectangle 16"/>
          <p:cNvSpPr/>
          <p:nvPr/>
        </p:nvSpPr>
        <p:spPr>
          <a:xfrm>
            <a:off x="685800" y="3401568"/>
            <a:ext cx="3429000" cy="1874519"/>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74720"/>
            <a:ext cx="64008" cy="1728216"/>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557016"/>
            <a:ext cx="3081528" cy="310896"/>
          </a:xfrm>
          <a:prstGeom prst="rect">
            <a:avLst/>
          </a:prstGeom>
          <a:noFill/>
        </p:spPr>
        <p:txBody>
          <a:bodyPr wrap="none">
            <a:spAutoFit/>
          </a:bodyPr>
          <a:lstStyle/>
          <a:p>
            <a:pPr>
              <a:defRPr sz="1500" b="1">
                <a:solidFill>
                  <a:srgbClr val="12263F"/>
                </a:solidFill>
                <a:latin typeface="Aptos Display"/>
              </a:defRPr>
            </a:pPr>
            <a:r>
              <a:t>Telemetry topic</a:t>
            </a:r>
          </a:p>
        </p:txBody>
      </p:sp>
      <p:sp>
        <p:nvSpPr>
          <p:cNvPr id="20" name="TextBox 19"/>
          <p:cNvSpPr txBox="1"/>
          <p:nvPr/>
        </p:nvSpPr>
        <p:spPr>
          <a:xfrm>
            <a:off x="886968" y="3931920"/>
            <a:ext cx="3044952" cy="1252727"/>
          </a:xfrm>
          <a:prstGeom prst="rect">
            <a:avLst/>
          </a:prstGeom>
          <a:noFill/>
        </p:spPr>
        <p:txBody>
          <a:bodyPr wrap="square" lIns="0" rIns="0">
            <a:spAutoFit/>
          </a:bodyPr>
          <a:lstStyle/>
          <a:p>
            <a:pPr>
              <a:spcAft>
                <a:spcPts val="500"/>
              </a:spcAft>
              <a:defRPr sz="1200">
                <a:solidFill>
                  <a:srgbClr val="273443"/>
                </a:solidFill>
                <a:latin typeface="Aptos"/>
              </a:defRPr>
            </a:pPr>
            <a:r>
              <a:t>smartwater/ESP32_001/telemetry</a:t>
            </a:r>
            <a:br/>
            <a:br/>
            <a:r>
              <a:t>Publishes distance, water level, flow rate, total litres, TDS estimate, pump state and auto/manual mode.</a:t>
            </a:r>
          </a:p>
        </p:txBody>
      </p:sp>
      <p:sp>
        <p:nvSpPr>
          <p:cNvPr id="21" name="Rounded Rectangle 20"/>
          <p:cNvSpPr/>
          <p:nvPr/>
        </p:nvSpPr>
        <p:spPr>
          <a:xfrm>
            <a:off x="4370832" y="3401568"/>
            <a:ext cx="3429000" cy="1874519"/>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70832" y="3474720"/>
            <a:ext cx="64008" cy="1728216"/>
          </a:xfrm>
          <a:prstGeom prst="rect">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557016"/>
            <a:ext cx="3081528" cy="310896"/>
          </a:xfrm>
          <a:prstGeom prst="rect">
            <a:avLst/>
          </a:prstGeom>
          <a:noFill/>
        </p:spPr>
        <p:txBody>
          <a:bodyPr wrap="none">
            <a:spAutoFit/>
          </a:bodyPr>
          <a:lstStyle/>
          <a:p>
            <a:pPr>
              <a:defRPr sz="1500" b="1">
                <a:solidFill>
                  <a:srgbClr val="12263F"/>
                </a:solidFill>
                <a:latin typeface="Aptos Display"/>
              </a:defRPr>
            </a:pPr>
            <a:r>
              <a:t>Command + acknowledgement</a:t>
            </a:r>
          </a:p>
        </p:txBody>
      </p:sp>
      <p:sp>
        <p:nvSpPr>
          <p:cNvPr id="24" name="TextBox 23"/>
          <p:cNvSpPr txBox="1"/>
          <p:nvPr/>
        </p:nvSpPr>
        <p:spPr>
          <a:xfrm>
            <a:off x="4572000" y="3931920"/>
            <a:ext cx="3044952" cy="1252727"/>
          </a:xfrm>
          <a:prstGeom prst="rect">
            <a:avLst/>
          </a:prstGeom>
          <a:noFill/>
        </p:spPr>
        <p:txBody>
          <a:bodyPr wrap="square" lIns="0" rIns="0">
            <a:spAutoFit/>
          </a:bodyPr>
          <a:lstStyle/>
          <a:p>
            <a:pPr>
              <a:spcAft>
                <a:spcPts val="500"/>
              </a:spcAft>
              <a:defRPr sz="1200">
                <a:solidFill>
                  <a:srgbClr val="273443"/>
                </a:solidFill>
                <a:latin typeface="Aptos"/>
              </a:defRPr>
            </a:pPr>
            <a:r>
              <a:t>…/command  →  ESP32</a:t>
            </a:r>
            <a:br/>
            <a:r>
              <a:t>…/ack  ←  ESP32</a:t>
            </a:r>
            <a:br/>
            <a:br/>
            <a:r>
              <a:t>The backend publishes a command; the device applies it and can return its pump/mode state.</a:t>
            </a:r>
          </a:p>
        </p:txBody>
      </p:sp>
      <p:sp>
        <p:nvSpPr>
          <p:cNvPr id="25" name="Rounded Rectangle 24"/>
          <p:cNvSpPr/>
          <p:nvPr/>
        </p:nvSpPr>
        <p:spPr>
          <a:xfrm>
            <a:off x="8065008" y="3401568"/>
            <a:ext cx="3429000" cy="1874519"/>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65008" y="3474720"/>
            <a:ext cx="64008" cy="1728216"/>
          </a:xfrm>
          <a:prstGeom prst="rect">
            <a:avLst/>
          </a:prstGeom>
          <a:solidFill>
            <a:srgbClr val="DD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6" y="3557016"/>
            <a:ext cx="3081528" cy="310896"/>
          </a:xfrm>
          <a:prstGeom prst="rect">
            <a:avLst/>
          </a:prstGeom>
          <a:noFill/>
        </p:spPr>
        <p:txBody>
          <a:bodyPr wrap="none">
            <a:spAutoFit/>
          </a:bodyPr>
          <a:lstStyle/>
          <a:p>
            <a:pPr>
              <a:defRPr sz="1500" b="1">
                <a:solidFill>
                  <a:srgbClr val="12263F"/>
                </a:solidFill>
                <a:latin typeface="Aptos Display"/>
              </a:defRPr>
            </a:pPr>
            <a:r>
              <a:t>Device status + alerts</a:t>
            </a:r>
          </a:p>
        </p:txBody>
      </p:sp>
      <p:sp>
        <p:nvSpPr>
          <p:cNvPr id="28" name="TextBox 27"/>
          <p:cNvSpPr txBox="1"/>
          <p:nvPr/>
        </p:nvSpPr>
        <p:spPr>
          <a:xfrm>
            <a:off x="8266176" y="3931920"/>
            <a:ext cx="3044952" cy="1252727"/>
          </a:xfrm>
          <a:prstGeom prst="rect">
            <a:avLst/>
          </a:prstGeom>
          <a:noFill/>
        </p:spPr>
        <p:txBody>
          <a:bodyPr wrap="square" lIns="0" rIns="0">
            <a:spAutoFit/>
          </a:bodyPr>
          <a:lstStyle/>
          <a:p>
            <a:pPr>
              <a:spcAft>
                <a:spcPts val="500"/>
              </a:spcAft>
              <a:defRPr sz="1200">
                <a:solidFill>
                  <a:srgbClr val="273443"/>
                </a:solidFill>
                <a:latin typeface="Aptos"/>
              </a:defRPr>
            </a:pPr>
            <a:r>
              <a:t>…/status reports online/offline state. …/alert carries threshold or possible-leak warnings when that logic is configured.</a:t>
            </a:r>
          </a:p>
        </p:txBody>
      </p:sp>
      <p:sp>
        <p:nvSpPr>
          <p:cNvPr id="29" name="TextBox 28"/>
          <p:cNvSpPr txBox="1"/>
          <p:nvPr/>
        </p:nvSpPr>
        <p:spPr>
          <a:xfrm>
            <a:off x="713232" y="5596128"/>
            <a:ext cx="10881360" cy="502920"/>
          </a:xfrm>
          <a:prstGeom prst="rect">
            <a:avLst/>
          </a:prstGeom>
          <a:noFill/>
        </p:spPr>
        <p:txBody>
          <a:bodyPr wrap="none">
            <a:spAutoFit/>
          </a:bodyPr>
          <a:lstStyle/>
          <a:p>
            <a:pPr>
              <a:defRPr sz="1100" b="1">
                <a:solidFill>
                  <a:srgbClr val="C24141"/>
                </a:solidFill>
              </a:defRPr>
            </a:pPr>
            <a:r>
              <a:t>Important: topic names and DEVICE_ID must match across firmware, HiveMQ subscriptions and backend configuration. Use broker credentials securely and validate TLS certificates for production.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46304"/>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292608"/>
          </a:xfrm>
          <a:prstGeom prst="rect">
            <a:avLst/>
          </a:prstGeom>
          <a:noFill/>
        </p:spPr>
        <p:txBody>
          <a:bodyPr wrap="none">
            <a:spAutoFit/>
          </a:bodyPr>
          <a:lstStyle/>
          <a:p>
            <a:pPr>
              <a:defRPr sz="1000" b="1">
                <a:solidFill>
                  <a:srgbClr val="2AA9C4"/>
                </a:solidFill>
                <a:latin typeface="Aptos"/>
              </a:defRPr>
            </a:pPr>
            <a:r>
              <a:t>09  BACKEND &amp; DATA</a:t>
            </a:r>
          </a:p>
        </p:txBody>
      </p:sp>
      <p:sp>
        <p:nvSpPr>
          <p:cNvPr id="4" name="TextBox 3"/>
          <p:cNvSpPr txBox="1"/>
          <p:nvPr/>
        </p:nvSpPr>
        <p:spPr>
          <a:xfrm>
            <a:off x="502920" y="612648"/>
            <a:ext cx="11064240" cy="530352"/>
          </a:xfrm>
          <a:prstGeom prst="rect">
            <a:avLst/>
          </a:prstGeom>
          <a:noFill/>
        </p:spPr>
        <p:txBody>
          <a:bodyPr wrap="none">
            <a:spAutoFit/>
          </a:bodyPr>
          <a:lstStyle/>
          <a:p>
            <a:pPr>
              <a:defRPr sz="2700" b="1">
                <a:solidFill>
                  <a:srgbClr val="12263F"/>
                </a:solidFill>
                <a:latin typeface="Aptos Display"/>
              </a:defRPr>
            </a:pPr>
            <a:r>
              <a:t>Node.js Backend and PostgreSQL</a:t>
            </a:r>
          </a:p>
        </p:txBody>
      </p:sp>
      <p:sp>
        <p:nvSpPr>
          <p:cNvPr id="5" name="TextBox 4"/>
          <p:cNvSpPr txBox="1"/>
          <p:nvPr/>
        </p:nvSpPr>
        <p:spPr>
          <a:xfrm>
            <a:off x="530352" y="1161288"/>
            <a:ext cx="10972800" cy="329184"/>
          </a:xfrm>
          <a:prstGeom prst="rect">
            <a:avLst/>
          </a:prstGeom>
          <a:noFill/>
        </p:spPr>
        <p:txBody>
          <a:bodyPr wrap="none">
            <a:spAutoFit/>
          </a:bodyPr>
          <a:lstStyle/>
          <a:p>
            <a:pPr>
              <a:defRPr sz="1100">
                <a:solidFill>
                  <a:srgbClr val="647484"/>
                </a:solidFill>
                <a:latin typeface="Aptos"/>
              </a:defRPr>
            </a:pPr>
            <a:r>
              <a:t>The backend bridges MQTT device messaging and the dashboard's HTTP API.</a:t>
            </a:r>
          </a:p>
        </p:txBody>
      </p:sp>
      <p:sp>
        <p:nvSpPr>
          <p:cNvPr id="6" name="TextBox 5"/>
          <p:cNvSpPr txBox="1"/>
          <p:nvPr/>
        </p:nvSpPr>
        <p:spPr>
          <a:xfrm>
            <a:off x="11247120" y="6510528"/>
            <a:ext cx="411480" cy="201168"/>
          </a:xfrm>
          <a:prstGeom prst="rect">
            <a:avLst/>
          </a:prstGeom>
          <a:noFill/>
        </p:spPr>
        <p:txBody>
          <a:bodyPr wrap="none">
            <a:spAutoFit/>
          </a:bodyPr>
          <a:lstStyle/>
          <a:p>
            <a:pPr algn="r">
              <a:defRPr sz="900">
                <a:solidFill>
                  <a:srgbClr val="647484"/>
                </a:solidFill>
              </a:defRPr>
            </a:pPr>
            <a:r>
              <a:t>18</a:t>
            </a:r>
          </a:p>
        </p:txBody>
      </p:sp>
      <p:sp>
        <p:nvSpPr>
          <p:cNvPr id="7" name="Rounded Rectangle 6"/>
          <p:cNvSpPr/>
          <p:nvPr/>
        </p:nvSpPr>
        <p:spPr>
          <a:xfrm>
            <a:off x="640080" y="1874519"/>
            <a:ext cx="2377440" cy="1024128"/>
          </a:xfrm>
          <a:prstGeom prst="roundRect">
            <a:avLst/>
          </a:prstGeom>
          <a:solidFill>
            <a:srgbClr val="EDF5FC"/>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ESP32</a:t>
            </a:r>
          </a:p>
          <a:p>
            <a:pPr algn="ctr">
              <a:defRPr sz="1000">
                <a:solidFill>
                  <a:srgbClr val="273443"/>
                </a:solidFill>
                <a:latin typeface="Aptos"/>
              </a:defRPr>
            </a:pPr>
            <a:r>
              <a:t>MQTT telemetry / commands</a:t>
            </a:r>
          </a:p>
        </p:txBody>
      </p:sp>
      <p:sp>
        <p:nvSpPr>
          <p:cNvPr id="8" name="Rounded Rectangle 7"/>
          <p:cNvSpPr/>
          <p:nvPr/>
        </p:nvSpPr>
        <p:spPr>
          <a:xfrm>
            <a:off x="3657600" y="1874519"/>
            <a:ext cx="2468880" cy="1024128"/>
          </a:xfrm>
          <a:prstGeom prst="roundRect">
            <a:avLst/>
          </a:prstGeom>
          <a:solidFill>
            <a:srgbClr val="DCF3F8"/>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HiveMQ Cloud</a:t>
            </a:r>
          </a:p>
          <a:p>
            <a:pPr algn="ctr">
              <a:defRPr sz="1000">
                <a:solidFill>
                  <a:srgbClr val="273443"/>
                </a:solidFill>
                <a:latin typeface="Aptos"/>
              </a:defRPr>
            </a:pPr>
            <a:r>
              <a:t>Topic routing</a:t>
            </a:r>
          </a:p>
        </p:txBody>
      </p:sp>
      <p:sp>
        <p:nvSpPr>
          <p:cNvPr id="9" name="Rounded Rectangle 8"/>
          <p:cNvSpPr/>
          <p:nvPr/>
        </p:nvSpPr>
        <p:spPr>
          <a:xfrm>
            <a:off x="6720840" y="1874519"/>
            <a:ext cx="2331720" cy="1024128"/>
          </a:xfrm>
          <a:prstGeom prst="roundRect">
            <a:avLst/>
          </a:prstGeom>
          <a:solidFill>
            <a:srgbClr val="E2EFFF"/>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Express API</a:t>
            </a:r>
          </a:p>
          <a:p>
            <a:pPr algn="ctr">
              <a:defRPr sz="1000">
                <a:solidFill>
                  <a:srgbClr val="273443"/>
                </a:solidFill>
                <a:latin typeface="Aptos"/>
              </a:defRPr>
            </a:pPr>
            <a:r>
              <a:t>Validation • device state</a:t>
            </a:r>
          </a:p>
        </p:txBody>
      </p:sp>
      <p:sp>
        <p:nvSpPr>
          <p:cNvPr id="10" name="Rounded Rectangle 9"/>
          <p:cNvSpPr/>
          <p:nvPr/>
        </p:nvSpPr>
        <p:spPr>
          <a:xfrm>
            <a:off x="9646920" y="1874519"/>
            <a:ext cx="1874519" cy="1024128"/>
          </a:xfrm>
          <a:prstGeom prst="roundRect">
            <a:avLst/>
          </a:prstGeom>
          <a:solidFill>
            <a:srgbClr val="E6F5ED"/>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PostgreSQL</a:t>
            </a:r>
          </a:p>
          <a:p>
            <a:pPr algn="ctr">
              <a:defRPr sz="1000">
                <a:solidFill>
                  <a:srgbClr val="273443"/>
                </a:solidFill>
                <a:latin typeface="Aptos"/>
              </a:defRPr>
            </a:pPr>
            <a:r>
              <a:t>Telemetry history</a:t>
            </a:r>
          </a:p>
        </p:txBody>
      </p:sp>
      <p:cxnSp>
        <p:nvCxnSpPr>
          <p:cNvPr id="11" name="Connector 10"/>
          <p:cNvCxnSpPr/>
          <p:nvPr/>
        </p:nvCxnSpPr>
        <p:spPr>
          <a:xfrm>
            <a:off x="3017520" y="2377440"/>
            <a:ext cx="640080" cy="0"/>
          </a:xfrm>
          <a:prstGeom prst="line">
            <a:avLst/>
          </a:prstGeom>
          <a:ln w="2540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26480" y="2377440"/>
            <a:ext cx="594360" cy="0"/>
          </a:xfrm>
          <a:prstGeom prst="line">
            <a:avLst/>
          </a:prstGeom>
          <a:ln w="25400">
            <a:solidFill>
              <a:srgbClr val="2669B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52560" y="2377440"/>
            <a:ext cx="594360" cy="0"/>
          </a:xfrm>
          <a:prstGeom prst="line">
            <a:avLst/>
          </a:prstGeom>
          <a:ln w="25400">
            <a:solidFill>
              <a:srgbClr val="1F8F6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800" y="3383280"/>
            <a:ext cx="3474720" cy="196596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456432"/>
            <a:ext cx="64008" cy="1819656"/>
          </a:xfrm>
          <a:prstGeom prst="rect">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538728"/>
            <a:ext cx="3127248" cy="310896"/>
          </a:xfrm>
          <a:prstGeom prst="rect">
            <a:avLst/>
          </a:prstGeom>
          <a:noFill/>
        </p:spPr>
        <p:txBody>
          <a:bodyPr wrap="none">
            <a:spAutoFit/>
          </a:bodyPr>
          <a:lstStyle/>
          <a:p>
            <a:pPr>
              <a:defRPr sz="1500" b="1">
                <a:solidFill>
                  <a:srgbClr val="12263F"/>
                </a:solidFill>
                <a:latin typeface="Aptos Display"/>
              </a:defRPr>
            </a:pPr>
            <a:r>
              <a:t>Backend responsibilities</a:t>
            </a:r>
          </a:p>
        </p:txBody>
      </p:sp>
      <p:sp>
        <p:nvSpPr>
          <p:cNvPr id="17" name="TextBox 16"/>
          <p:cNvSpPr txBox="1"/>
          <p:nvPr/>
        </p:nvSpPr>
        <p:spPr>
          <a:xfrm>
            <a:off x="886968" y="3913632"/>
            <a:ext cx="3090672" cy="1344167"/>
          </a:xfrm>
          <a:prstGeom prst="rect">
            <a:avLst/>
          </a:prstGeom>
          <a:noFill/>
        </p:spPr>
        <p:txBody>
          <a:bodyPr wrap="square" lIns="0" rIns="0">
            <a:spAutoFit/>
          </a:bodyPr>
          <a:lstStyle/>
          <a:p>
            <a:pPr>
              <a:spcAft>
                <a:spcPts val="500"/>
              </a:spcAft>
              <a:defRPr sz="1200">
                <a:solidFill>
                  <a:srgbClr val="273443"/>
                </a:solidFill>
                <a:latin typeface="Aptos"/>
              </a:defRPr>
            </a:pPr>
            <a:r>
              <a:t>• Subscribe to telemetry, status and alert topics</a:t>
            </a:r>
            <a:br/>
            <a:r>
              <a:t>• Validate incoming JSON and timestamps</a:t>
            </a:r>
            <a:br/>
            <a:r>
              <a:t>• Store readings and expose latest/history data</a:t>
            </a:r>
            <a:br/>
            <a:r>
              <a:t>• Publish commands to the device topic</a:t>
            </a:r>
          </a:p>
        </p:txBody>
      </p:sp>
      <p:sp>
        <p:nvSpPr>
          <p:cNvPr id="18" name="Rounded Rectangle 17"/>
          <p:cNvSpPr/>
          <p:nvPr/>
        </p:nvSpPr>
        <p:spPr>
          <a:xfrm>
            <a:off x="4370832" y="3383280"/>
            <a:ext cx="3474720" cy="196596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3456432"/>
            <a:ext cx="64008" cy="1819656"/>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3538728"/>
            <a:ext cx="3127248" cy="310896"/>
          </a:xfrm>
          <a:prstGeom prst="rect">
            <a:avLst/>
          </a:prstGeom>
          <a:noFill/>
        </p:spPr>
        <p:txBody>
          <a:bodyPr wrap="none">
            <a:spAutoFit/>
          </a:bodyPr>
          <a:lstStyle/>
          <a:p>
            <a:pPr>
              <a:defRPr sz="1500" b="1">
                <a:solidFill>
                  <a:srgbClr val="12263F"/>
                </a:solidFill>
                <a:latin typeface="Aptos Display"/>
              </a:defRPr>
            </a:pPr>
            <a:r>
              <a:t>API surface</a:t>
            </a:r>
          </a:p>
        </p:txBody>
      </p:sp>
      <p:sp>
        <p:nvSpPr>
          <p:cNvPr id="21" name="TextBox 20"/>
          <p:cNvSpPr txBox="1"/>
          <p:nvPr/>
        </p:nvSpPr>
        <p:spPr>
          <a:xfrm>
            <a:off x="4572000" y="3913632"/>
            <a:ext cx="3090672" cy="1344167"/>
          </a:xfrm>
          <a:prstGeom prst="rect">
            <a:avLst/>
          </a:prstGeom>
          <a:noFill/>
        </p:spPr>
        <p:txBody>
          <a:bodyPr wrap="square" lIns="0" rIns="0">
            <a:spAutoFit/>
          </a:bodyPr>
          <a:lstStyle/>
          <a:p>
            <a:pPr>
              <a:spcAft>
                <a:spcPts val="500"/>
              </a:spcAft>
              <a:defRPr sz="1200">
                <a:solidFill>
                  <a:srgbClr val="273443"/>
                </a:solidFill>
                <a:latin typeface="Aptos"/>
              </a:defRPr>
            </a:pPr>
            <a:r>
              <a:t>GET /api/health</a:t>
            </a:r>
            <a:br/>
            <a:r>
              <a:t>GET /api/telemetry/latest</a:t>
            </a:r>
            <a:br/>
            <a:r>
              <a:t>GET /api/telemetry/history?limit=100</a:t>
            </a:r>
            <a:br/>
            <a:r>
              <a:t>GET /api/device/status</a:t>
            </a:r>
            <a:br/>
            <a:r>
              <a:t>POST /api/device/command</a:t>
            </a:r>
          </a:p>
        </p:txBody>
      </p:sp>
      <p:sp>
        <p:nvSpPr>
          <p:cNvPr id="22" name="Rounded Rectangle 21"/>
          <p:cNvSpPr/>
          <p:nvPr/>
        </p:nvSpPr>
        <p:spPr>
          <a:xfrm>
            <a:off x="8065008" y="3383280"/>
            <a:ext cx="3429000" cy="196596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65008" y="3456432"/>
            <a:ext cx="64008" cy="1819656"/>
          </a:xfrm>
          <a:prstGeom prst="rect">
            <a:avLst/>
          </a:prstGeom>
          <a:solidFill>
            <a:srgbClr val="1F8F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6176" y="3538728"/>
            <a:ext cx="3081528" cy="310896"/>
          </a:xfrm>
          <a:prstGeom prst="rect">
            <a:avLst/>
          </a:prstGeom>
          <a:noFill/>
        </p:spPr>
        <p:txBody>
          <a:bodyPr wrap="none">
            <a:spAutoFit/>
          </a:bodyPr>
          <a:lstStyle/>
          <a:p>
            <a:pPr>
              <a:defRPr sz="1500" b="1">
                <a:solidFill>
                  <a:srgbClr val="12263F"/>
                </a:solidFill>
                <a:latin typeface="Aptos Display"/>
              </a:defRPr>
            </a:pPr>
            <a:r>
              <a:t>Database purpose</a:t>
            </a:r>
          </a:p>
        </p:txBody>
      </p:sp>
      <p:sp>
        <p:nvSpPr>
          <p:cNvPr id="25" name="TextBox 24"/>
          <p:cNvSpPr txBox="1"/>
          <p:nvPr/>
        </p:nvSpPr>
        <p:spPr>
          <a:xfrm>
            <a:off x="8266176" y="3913632"/>
            <a:ext cx="3044952" cy="1344167"/>
          </a:xfrm>
          <a:prstGeom prst="rect">
            <a:avLst/>
          </a:prstGeom>
          <a:noFill/>
        </p:spPr>
        <p:txBody>
          <a:bodyPr wrap="square" lIns="0" rIns="0">
            <a:spAutoFit/>
          </a:bodyPr>
          <a:lstStyle/>
          <a:p>
            <a:pPr>
              <a:spcAft>
                <a:spcPts val="500"/>
              </a:spcAft>
              <a:defRPr sz="1100">
                <a:solidFill>
                  <a:srgbClr val="273443"/>
                </a:solidFill>
                <a:latin typeface="Aptos"/>
              </a:defRPr>
            </a:pPr>
            <a:r>
              <a:t>Store time-series readings for trends and troubleshooting. Typical fields: deviceId, timestamp, distanceCm, waterLevel, flowRateLMin, totalLiters, tdsPPM, pumpStatus and autoMode.</a:t>
            </a:r>
          </a:p>
        </p:txBody>
      </p:sp>
      <p:sp>
        <p:nvSpPr>
          <p:cNvPr id="26" name="TextBox 25"/>
          <p:cNvSpPr txBox="1"/>
          <p:nvPr/>
        </p:nvSpPr>
        <p:spPr>
          <a:xfrm>
            <a:off x="713232" y="5596128"/>
            <a:ext cx="10881360" cy="502920"/>
          </a:xfrm>
          <a:prstGeom prst="rect">
            <a:avLst/>
          </a:prstGeom>
          <a:noFill/>
        </p:spPr>
        <p:txBody>
          <a:bodyPr wrap="none">
            <a:spAutoFit/>
          </a:bodyPr>
          <a:lstStyle/>
          <a:p>
            <a:pPr>
              <a:defRPr sz="1100" b="1">
                <a:solidFill>
                  <a:srgbClr val="C24141"/>
                </a:solidFill>
              </a:defRPr>
            </a:pPr>
            <a:r>
              <a:t>Deployment note: the API must use environment variables for database and broker secrets. Protect command endpoints with authentication/authorization before public deployment.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46304"/>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292608"/>
          </a:xfrm>
          <a:prstGeom prst="rect">
            <a:avLst/>
          </a:prstGeom>
          <a:noFill/>
        </p:spPr>
        <p:txBody>
          <a:bodyPr wrap="none">
            <a:spAutoFit/>
          </a:bodyPr>
          <a:lstStyle/>
          <a:p>
            <a:pPr>
              <a:defRPr sz="1000" b="1">
                <a:solidFill>
                  <a:srgbClr val="2AA9C4"/>
                </a:solidFill>
                <a:latin typeface="Aptos"/>
              </a:defRPr>
            </a:pPr>
            <a:r>
              <a:t>10  LIVE MONITORING</a:t>
            </a:r>
          </a:p>
        </p:txBody>
      </p:sp>
      <p:sp>
        <p:nvSpPr>
          <p:cNvPr id="4" name="TextBox 3"/>
          <p:cNvSpPr txBox="1"/>
          <p:nvPr/>
        </p:nvSpPr>
        <p:spPr>
          <a:xfrm>
            <a:off x="502920" y="612648"/>
            <a:ext cx="11064240" cy="530352"/>
          </a:xfrm>
          <a:prstGeom prst="rect">
            <a:avLst/>
          </a:prstGeom>
          <a:noFill/>
        </p:spPr>
        <p:txBody>
          <a:bodyPr wrap="none">
            <a:spAutoFit/>
          </a:bodyPr>
          <a:lstStyle/>
          <a:p>
            <a:pPr>
              <a:defRPr sz="2700" b="1">
                <a:solidFill>
                  <a:srgbClr val="12263F"/>
                </a:solidFill>
                <a:latin typeface="Aptos Display"/>
              </a:defRPr>
            </a:pPr>
            <a:r>
              <a:t>Live Dashboard: What the User Sees</a:t>
            </a:r>
          </a:p>
        </p:txBody>
      </p:sp>
      <p:sp>
        <p:nvSpPr>
          <p:cNvPr id="5" name="TextBox 4"/>
          <p:cNvSpPr txBox="1"/>
          <p:nvPr/>
        </p:nvSpPr>
        <p:spPr>
          <a:xfrm>
            <a:off x="530352" y="1161288"/>
            <a:ext cx="10972800" cy="329184"/>
          </a:xfrm>
          <a:prstGeom prst="rect">
            <a:avLst/>
          </a:prstGeom>
          <a:noFill/>
        </p:spPr>
        <p:txBody>
          <a:bodyPr wrap="none">
            <a:spAutoFit/>
          </a:bodyPr>
          <a:lstStyle/>
          <a:p>
            <a:pPr>
              <a:defRPr sz="1100">
                <a:solidFill>
                  <a:srgbClr val="647484"/>
                </a:solidFill>
                <a:latin typeface="Aptos"/>
              </a:defRPr>
            </a:pPr>
            <a:r>
              <a:t>Dashboard values are refreshed from the backend; historical charts come from stored telemetry.</a:t>
            </a:r>
          </a:p>
        </p:txBody>
      </p:sp>
      <p:sp>
        <p:nvSpPr>
          <p:cNvPr id="6" name="TextBox 5"/>
          <p:cNvSpPr txBox="1"/>
          <p:nvPr/>
        </p:nvSpPr>
        <p:spPr>
          <a:xfrm>
            <a:off x="11247120" y="6510528"/>
            <a:ext cx="411480" cy="201168"/>
          </a:xfrm>
          <a:prstGeom prst="rect">
            <a:avLst/>
          </a:prstGeom>
          <a:noFill/>
        </p:spPr>
        <p:txBody>
          <a:bodyPr wrap="none">
            <a:spAutoFit/>
          </a:bodyPr>
          <a:lstStyle/>
          <a:p>
            <a:pPr algn="r">
              <a:defRPr sz="900">
                <a:solidFill>
                  <a:srgbClr val="647484"/>
                </a:solidFill>
              </a:defRPr>
            </a:pPr>
            <a:r>
              <a:t>19</a:t>
            </a:r>
          </a:p>
        </p:txBody>
      </p:sp>
      <p:sp>
        <p:nvSpPr>
          <p:cNvPr id="7" name="Rounded Rectangle 6"/>
          <p:cNvSpPr/>
          <p:nvPr/>
        </p:nvSpPr>
        <p:spPr>
          <a:xfrm>
            <a:off x="594360" y="1691640"/>
            <a:ext cx="7543800" cy="4251960"/>
          </a:xfrm>
          <a:prstGeom prst="roundRect">
            <a:avLst/>
          </a:prstGeom>
          <a:solidFill>
            <a:srgbClr val="F7FAFD"/>
          </a:solidFill>
          <a:ln>
            <a:solidFill>
              <a:srgbClr val="D4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47088"/>
            <a:ext cx="6949440" cy="320040"/>
          </a:xfrm>
          <a:prstGeom prst="rect">
            <a:avLst/>
          </a:prstGeom>
          <a:noFill/>
        </p:spPr>
        <p:txBody>
          <a:bodyPr wrap="none">
            <a:spAutoFit/>
          </a:bodyPr>
          <a:lstStyle/>
          <a:p>
            <a:pPr>
              <a:defRPr sz="1200" b="1">
                <a:solidFill>
                  <a:srgbClr val="12263F"/>
                </a:solidFill>
              </a:defRPr>
            </a:pPr>
            <a:r>
              <a:t>SMART WATER  /  DEVICE ESP32_001</a:t>
            </a:r>
          </a:p>
        </p:txBody>
      </p:sp>
      <p:sp>
        <p:nvSpPr>
          <p:cNvPr id="9" name="Rounded Rectangle 8"/>
          <p:cNvSpPr/>
          <p:nvPr/>
        </p:nvSpPr>
        <p:spPr>
          <a:xfrm>
            <a:off x="6629400" y="1828800"/>
            <a:ext cx="1143000" cy="310896"/>
          </a:xfrm>
          <a:prstGeom prst="roundRect">
            <a:avLst/>
          </a:prstGeom>
          <a:solidFill>
            <a:srgbClr val="DC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F8F68"/>
                </a:solidFill>
              </a:defRPr>
            </a:pPr>
            <a:r>
              <a:t>● ONLINE</a:t>
            </a:r>
          </a:p>
        </p:txBody>
      </p:sp>
      <p:sp>
        <p:nvSpPr>
          <p:cNvPr id="10" name="Rounded Rectangle 9"/>
          <p:cNvSpPr/>
          <p:nvPr/>
        </p:nvSpPr>
        <p:spPr>
          <a:xfrm>
            <a:off x="868680" y="2331720"/>
            <a:ext cx="1536192" cy="96012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47484"/>
                </a:solidFill>
              </a:defRPr>
            </a:pPr>
            <a:r>
              <a:t>Water level</a:t>
            </a:r>
          </a:p>
          <a:p>
            <a:pPr algn="ctr">
              <a:defRPr sz="1700" b="1">
                <a:solidFill>
                  <a:srgbClr val="12263F"/>
                </a:solidFill>
              </a:defRPr>
            </a:pPr>
            <a:r>
              <a:t>65%</a:t>
            </a:r>
          </a:p>
        </p:txBody>
      </p:sp>
      <p:sp>
        <p:nvSpPr>
          <p:cNvPr id="11" name="Rounded Rectangle 10"/>
          <p:cNvSpPr/>
          <p:nvPr/>
        </p:nvSpPr>
        <p:spPr>
          <a:xfrm>
            <a:off x="2587752" y="2331720"/>
            <a:ext cx="1536192" cy="96012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47484"/>
                </a:solidFill>
              </a:defRPr>
            </a:pPr>
            <a:r>
              <a:t>Flow rate</a:t>
            </a:r>
          </a:p>
          <a:p>
            <a:pPr algn="ctr">
              <a:defRPr sz="1700" b="1">
                <a:solidFill>
                  <a:srgbClr val="12263F"/>
                </a:solidFill>
              </a:defRPr>
            </a:pPr>
            <a:r>
              <a:t>3.2 L/min</a:t>
            </a:r>
          </a:p>
        </p:txBody>
      </p:sp>
      <p:sp>
        <p:nvSpPr>
          <p:cNvPr id="12" name="Rounded Rectangle 11"/>
          <p:cNvSpPr/>
          <p:nvPr/>
        </p:nvSpPr>
        <p:spPr>
          <a:xfrm>
            <a:off x="4306824" y="2331720"/>
            <a:ext cx="1536192" cy="96012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47484"/>
                </a:solidFill>
              </a:defRPr>
            </a:pPr>
            <a:r>
              <a:t>TDS estimate</a:t>
            </a:r>
          </a:p>
          <a:p>
            <a:pPr algn="ctr">
              <a:defRPr sz="1700" b="1">
                <a:solidFill>
                  <a:srgbClr val="12263F"/>
                </a:solidFill>
              </a:defRPr>
            </a:pPr>
            <a:r>
              <a:t>215 ppm</a:t>
            </a:r>
          </a:p>
        </p:txBody>
      </p:sp>
      <p:sp>
        <p:nvSpPr>
          <p:cNvPr id="13" name="Rounded Rectangle 12"/>
          <p:cNvSpPr/>
          <p:nvPr/>
        </p:nvSpPr>
        <p:spPr>
          <a:xfrm>
            <a:off x="6025896" y="2331720"/>
            <a:ext cx="1536192" cy="960120"/>
          </a:xfrm>
          <a:prstGeom prst="roundRect">
            <a:avLst/>
          </a:prstGeom>
          <a:solidFill>
            <a:srgbClr val="FFFFFF"/>
          </a:solidFill>
          <a:ln>
            <a:solidFill>
              <a:srgbClr val="DC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647484"/>
                </a:solidFill>
              </a:defRPr>
            </a:pPr>
            <a:r>
              <a:t>Pump status</a:t>
            </a:r>
          </a:p>
          <a:p>
            <a:pPr algn="ctr">
              <a:defRPr sz="1700" b="1">
                <a:solidFill>
                  <a:srgbClr val="12263F"/>
                </a:solidFill>
              </a:defRPr>
            </a:pPr>
            <a:r>
              <a:t>ON</a:t>
            </a:r>
          </a:p>
        </p:txBody>
      </p:sp>
      <p:sp>
        <p:nvSpPr>
          <p:cNvPr id="14" name="TextBox 13"/>
          <p:cNvSpPr txBox="1"/>
          <p:nvPr/>
        </p:nvSpPr>
        <p:spPr>
          <a:xfrm>
            <a:off x="914400" y="3547872"/>
            <a:ext cx="4389120" cy="228600"/>
          </a:xfrm>
          <a:prstGeom prst="rect">
            <a:avLst/>
          </a:prstGeom>
          <a:noFill/>
        </p:spPr>
        <p:txBody>
          <a:bodyPr wrap="none">
            <a:spAutoFit/>
          </a:bodyPr>
          <a:lstStyle/>
          <a:p>
            <a:pPr>
              <a:defRPr sz="1000" b="1">
                <a:solidFill>
                  <a:srgbClr val="273443"/>
                </a:solidFill>
              </a:defRPr>
            </a:pPr>
            <a:r>
              <a:t>Recent water-level trend (illustrative UI mock-up)</a:t>
            </a:r>
          </a:p>
        </p:txBody>
      </p:sp>
      <p:cxnSp>
        <p:nvCxnSpPr>
          <p:cNvPr id="15" name="Connector 14"/>
          <p:cNvCxnSpPr/>
          <p:nvPr/>
        </p:nvCxnSpPr>
        <p:spPr>
          <a:xfrm>
            <a:off x="1051560" y="5440680"/>
            <a:ext cx="4023360" cy="0"/>
          </a:xfrm>
          <a:prstGeom prst="line">
            <a:avLst/>
          </a:prstGeom>
          <a:ln w="12700">
            <a:solidFill>
              <a:srgbClr val="64748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051560" y="3977639"/>
            <a:ext cx="0" cy="1463041"/>
          </a:xfrm>
          <a:prstGeom prst="line">
            <a:avLst/>
          </a:prstGeom>
          <a:ln w="12700">
            <a:solidFill>
              <a:srgbClr val="64748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34440" y="4800600"/>
            <a:ext cx="548640" cy="182880"/>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783080" y="4800600"/>
            <a:ext cx="548640" cy="64008"/>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31720" y="4526280"/>
            <a:ext cx="548640" cy="338328"/>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880360" y="4462272"/>
            <a:ext cx="548640" cy="64008"/>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29000" y="4160520"/>
            <a:ext cx="548639" cy="301752"/>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77639" y="4160520"/>
            <a:ext cx="548641" cy="73152"/>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526280" y="3977639"/>
            <a:ext cx="457200" cy="256033"/>
          </a:xfrm>
          <a:prstGeom prst="line">
            <a:avLst/>
          </a:prstGeom>
          <a:ln w="31750">
            <a:solidFill>
              <a:srgbClr val="2AA9C4"/>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197864" y="4946904"/>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46504" y="4764024"/>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295144" y="4828032"/>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843784" y="4489704"/>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92424" y="4425696"/>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941063" y="4123944"/>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89704" y="4197096"/>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946904" y="3941063"/>
            <a:ext cx="73152" cy="73152"/>
          </a:xfrm>
          <a:prstGeom prst="ellipse">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412480" y="1691640"/>
            <a:ext cx="3154680" cy="123444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0" y="1764792"/>
            <a:ext cx="64008" cy="1088136"/>
          </a:xfrm>
          <a:prstGeom prst="rect">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13648" y="1847088"/>
            <a:ext cx="2807208" cy="310896"/>
          </a:xfrm>
          <a:prstGeom prst="rect">
            <a:avLst/>
          </a:prstGeom>
          <a:noFill/>
        </p:spPr>
        <p:txBody>
          <a:bodyPr wrap="none">
            <a:spAutoFit/>
          </a:bodyPr>
          <a:lstStyle/>
          <a:p>
            <a:pPr>
              <a:defRPr sz="1500" b="1">
                <a:solidFill>
                  <a:srgbClr val="12263F"/>
                </a:solidFill>
                <a:latin typeface="Aptos Display"/>
              </a:defRPr>
            </a:pPr>
            <a:r>
              <a:t>Pump control</a:t>
            </a:r>
          </a:p>
        </p:txBody>
      </p:sp>
      <p:sp>
        <p:nvSpPr>
          <p:cNvPr id="35" name="TextBox 34"/>
          <p:cNvSpPr txBox="1"/>
          <p:nvPr/>
        </p:nvSpPr>
        <p:spPr>
          <a:xfrm>
            <a:off x="8613648" y="2221992"/>
            <a:ext cx="2770632" cy="612648"/>
          </a:xfrm>
          <a:prstGeom prst="rect">
            <a:avLst/>
          </a:prstGeom>
          <a:noFill/>
        </p:spPr>
        <p:txBody>
          <a:bodyPr wrap="square" lIns="0" rIns="0">
            <a:spAutoFit/>
          </a:bodyPr>
          <a:lstStyle/>
          <a:p>
            <a:pPr>
              <a:spcAft>
                <a:spcPts val="500"/>
              </a:spcAft>
              <a:defRPr sz="1100">
                <a:solidFill>
                  <a:srgbClr val="273443"/>
                </a:solidFill>
                <a:latin typeface="Aptos"/>
              </a:defRPr>
            </a:pPr>
            <a:r>
              <a:t>AUTO / MANUAL mode</a:t>
            </a:r>
            <a:br/>
            <a:r>
              <a:t>ON • OFF commands via backend → MQTT</a:t>
            </a:r>
          </a:p>
        </p:txBody>
      </p:sp>
      <p:sp>
        <p:nvSpPr>
          <p:cNvPr id="36" name="Rounded Rectangle 35"/>
          <p:cNvSpPr/>
          <p:nvPr/>
        </p:nvSpPr>
        <p:spPr>
          <a:xfrm>
            <a:off x="8412480" y="3127248"/>
            <a:ext cx="3154680" cy="123444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0" y="3200400"/>
            <a:ext cx="64008" cy="1088136"/>
          </a:xfrm>
          <a:prstGeom prst="rect">
            <a:avLst/>
          </a:prstGeom>
          <a:solidFill>
            <a:srgbClr val="DD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13648" y="3282696"/>
            <a:ext cx="2807208" cy="310896"/>
          </a:xfrm>
          <a:prstGeom prst="rect">
            <a:avLst/>
          </a:prstGeom>
          <a:noFill/>
        </p:spPr>
        <p:txBody>
          <a:bodyPr wrap="none">
            <a:spAutoFit/>
          </a:bodyPr>
          <a:lstStyle/>
          <a:p>
            <a:pPr>
              <a:defRPr sz="1500" b="1">
                <a:solidFill>
                  <a:srgbClr val="12263F"/>
                </a:solidFill>
                <a:latin typeface="Aptos Display"/>
              </a:defRPr>
            </a:pPr>
            <a:r>
              <a:t>Alerts &amp; connection</a:t>
            </a:r>
          </a:p>
        </p:txBody>
      </p:sp>
      <p:sp>
        <p:nvSpPr>
          <p:cNvPr id="39" name="TextBox 38"/>
          <p:cNvSpPr txBox="1"/>
          <p:nvPr/>
        </p:nvSpPr>
        <p:spPr>
          <a:xfrm>
            <a:off x="8613648" y="3657600"/>
            <a:ext cx="2770632" cy="612648"/>
          </a:xfrm>
          <a:prstGeom prst="rect">
            <a:avLst/>
          </a:prstGeom>
          <a:noFill/>
        </p:spPr>
        <p:txBody>
          <a:bodyPr wrap="square" lIns="0" rIns="0">
            <a:spAutoFit/>
          </a:bodyPr>
          <a:lstStyle/>
          <a:p>
            <a:pPr>
              <a:spcAft>
                <a:spcPts val="500"/>
              </a:spcAft>
              <a:defRPr sz="1100">
                <a:solidFill>
                  <a:srgbClr val="273443"/>
                </a:solidFill>
                <a:latin typeface="Aptos"/>
              </a:defRPr>
            </a:pPr>
            <a:r>
              <a:t>Low / high level • TDS threshold</a:t>
            </a:r>
            <a:br/>
            <a:r>
              <a:t>Possible flow anomaly • device offline</a:t>
            </a:r>
          </a:p>
        </p:txBody>
      </p:sp>
      <p:sp>
        <p:nvSpPr>
          <p:cNvPr id="40" name="Rounded Rectangle 39"/>
          <p:cNvSpPr/>
          <p:nvPr/>
        </p:nvSpPr>
        <p:spPr>
          <a:xfrm>
            <a:off x="8412480" y="4562856"/>
            <a:ext cx="3154680" cy="123444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0" y="4636008"/>
            <a:ext cx="64008" cy="1088136"/>
          </a:xfrm>
          <a:prstGeom prst="rect">
            <a:avLst/>
          </a:prstGeom>
          <a:solidFill>
            <a:srgbClr val="1F8F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13648" y="4718304"/>
            <a:ext cx="2807208" cy="310896"/>
          </a:xfrm>
          <a:prstGeom prst="rect">
            <a:avLst/>
          </a:prstGeom>
          <a:noFill/>
        </p:spPr>
        <p:txBody>
          <a:bodyPr wrap="none">
            <a:spAutoFit/>
          </a:bodyPr>
          <a:lstStyle/>
          <a:p>
            <a:pPr>
              <a:defRPr sz="1500" b="1">
                <a:solidFill>
                  <a:srgbClr val="12263F"/>
                </a:solidFill>
                <a:latin typeface="Aptos Display"/>
              </a:defRPr>
            </a:pPr>
            <a:r>
              <a:t>History &amp; usage</a:t>
            </a:r>
          </a:p>
        </p:txBody>
      </p:sp>
      <p:sp>
        <p:nvSpPr>
          <p:cNvPr id="43" name="TextBox 42"/>
          <p:cNvSpPr txBox="1"/>
          <p:nvPr/>
        </p:nvSpPr>
        <p:spPr>
          <a:xfrm>
            <a:off x="8613648" y="5093208"/>
            <a:ext cx="2770632" cy="612648"/>
          </a:xfrm>
          <a:prstGeom prst="rect">
            <a:avLst/>
          </a:prstGeom>
          <a:noFill/>
        </p:spPr>
        <p:txBody>
          <a:bodyPr wrap="square" lIns="0" rIns="0">
            <a:spAutoFit/>
          </a:bodyPr>
          <a:lstStyle/>
          <a:p>
            <a:pPr>
              <a:spcAft>
                <a:spcPts val="500"/>
              </a:spcAft>
              <a:defRPr sz="1100">
                <a:solidFill>
                  <a:srgbClr val="273443"/>
                </a:solidFill>
                <a:latin typeface="Aptos"/>
              </a:defRPr>
            </a:pPr>
            <a:r>
              <a:t>Flow and level charts from PostgreSQL history; total litres support consumption review.</a:t>
            </a:r>
          </a:p>
        </p:txBody>
      </p:sp>
      <p:sp>
        <p:nvSpPr>
          <p:cNvPr id="44" name="TextBox 43"/>
          <p:cNvSpPr txBox="1"/>
          <p:nvPr/>
        </p:nvSpPr>
        <p:spPr>
          <a:xfrm>
            <a:off x="713232" y="6080760"/>
            <a:ext cx="10881360" cy="256032"/>
          </a:xfrm>
          <a:prstGeom prst="rect">
            <a:avLst/>
          </a:prstGeom>
          <a:noFill/>
        </p:spPr>
        <p:txBody>
          <a:bodyPr wrap="none">
            <a:spAutoFit/>
          </a:bodyPr>
          <a:lstStyle/>
          <a:p>
            <a:pPr>
              <a:defRPr sz="1000" i="1">
                <a:solidFill>
                  <a:srgbClr val="647484"/>
                </a:solidFill>
              </a:defRPr>
            </a:pPr>
            <a:r>
              <a:t>Dashboard figures shown here are illustrative mock-up values, not a live feed or verified measurements.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46304"/>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1064240" cy="292608"/>
          </a:xfrm>
          <a:prstGeom prst="rect">
            <a:avLst/>
          </a:prstGeom>
          <a:noFill/>
        </p:spPr>
        <p:txBody>
          <a:bodyPr wrap="none">
            <a:spAutoFit/>
          </a:bodyPr>
          <a:lstStyle/>
          <a:p>
            <a:pPr>
              <a:defRPr sz="1000" b="1">
                <a:solidFill>
                  <a:srgbClr val="2AA9C4"/>
                </a:solidFill>
                <a:latin typeface="Aptos"/>
              </a:defRPr>
            </a:pPr>
            <a:r>
              <a:t>11  ALERT LOGIC</a:t>
            </a:r>
          </a:p>
        </p:txBody>
      </p:sp>
      <p:sp>
        <p:nvSpPr>
          <p:cNvPr id="4" name="TextBox 3"/>
          <p:cNvSpPr txBox="1"/>
          <p:nvPr/>
        </p:nvSpPr>
        <p:spPr>
          <a:xfrm>
            <a:off x="502920" y="612648"/>
            <a:ext cx="11064240" cy="530352"/>
          </a:xfrm>
          <a:prstGeom prst="rect">
            <a:avLst/>
          </a:prstGeom>
          <a:noFill/>
        </p:spPr>
        <p:txBody>
          <a:bodyPr wrap="none">
            <a:spAutoFit/>
          </a:bodyPr>
          <a:lstStyle/>
          <a:p>
            <a:pPr>
              <a:defRPr sz="2700" b="1">
                <a:solidFill>
                  <a:srgbClr val="12263F"/>
                </a:solidFill>
                <a:latin typeface="Aptos Display"/>
              </a:defRPr>
            </a:pPr>
            <a:r>
              <a:t>Possible Leakage Detection from Flow History</a:t>
            </a:r>
          </a:p>
        </p:txBody>
      </p:sp>
      <p:sp>
        <p:nvSpPr>
          <p:cNvPr id="5" name="TextBox 4"/>
          <p:cNvSpPr txBox="1"/>
          <p:nvPr/>
        </p:nvSpPr>
        <p:spPr>
          <a:xfrm>
            <a:off x="530352" y="1161288"/>
            <a:ext cx="10972800" cy="329184"/>
          </a:xfrm>
          <a:prstGeom prst="rect">
            <a:avLst/>
          </a:prstGeom>
          <a:noFill/>
        </p:spPr>
        <p:txBody>
          <a:bodyPr wrap="none">
            <a:spAutoFit/>
          </a:bodyPr>
          <a:lstStyle/>
          <a:p>
            <a:pPr>
              <a:defRPr sz="1100">
                <a:solidFill>
                  <a:srgbClr val="647484"/>
                </a:solidFill>
                <a:latin typeface="Aptos"/>
              </a:defRPr>
            </a:pPr>
            <a:r>
              <a:t>A flow anomaly can raise a warning; it cannot confirm a leak on its own.</a:t>
            </a:r>
          </a:p>
        </p:txBody>
      </p:sp>
      <p:sp>
        <p:nvSpPr>
          <p:cNvPr id="6" name="TextBox 5"/>
          <p:cNvSpPr txBox="1"/>
          <p:nvPr/>
        </p:nvSpPr>
        <p:spPr>
          <a:xfrm>
            <a:off x="11247120" y="6510528"/>
            <a:ext cx="411480" cy="201168"/>
          </a:xfrm>
          <a:prstGeom prst="rect">
            <a:avLst/>
          </a:prstGeom>
          <a:noFill/>
        </p:spPr>
        <p:txBody>
          <a:bodyPr wrap="none">
            <a:spAutoFit/>
          </a:bodyPr>
          <a:lstStyle/>
          <a:p>
            <a:pPr algn="r">
              <a:defRPr sz="900">
                <a:solidFill>
                  <a:srgbClr val="647484"/>
                </a:solidFill>
              </a:defRPr>
            </a:pPr>
            <a:r>
              <a:t>20</a:t>
            </a:r>
          </a:p>
        </p:txBody>
      </p:sp>
      <p:sp>
        <p:nvSpPr>
          <p:cNvPr id="7" name="Rounded Rectangle 6"/>
          <p:cNvSpPr/>
          <p:nvPr/>
        </p:nvSpPr>
        <p:spPr>
          <a:xfrm>
            <a:off x="685800" y="1783080"/>
            <a:ext cx="3429000" cy="182880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856231"/>
            <a:ext cx="64008" cy="1682496"/>
          </a:xfrm>
          <a:prstGeom prst="rect">
            <a:avLst/>
          </a:prstGeom>
          <a:solidFill>
            <a:srgbClr val="26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938528"/>
            <a:ext cx="3081528" cy="310896"/>
          </a:xfrm>
          <a:prstGeom prst="rect">
            <a:avLst/>
          </a:prstGeom>
          <a:noFill/>
        </p:spPr>
        <p:txBody>
          <a:bodyPr wrap="none">
            <a:spAutoFit/>
          </a:bodyPr>
          <a:lstStyle/>
          <a:p>
            <a:pPr>
              <a:defRPr sz="1500" b="1">
                <a:solidFill>
                  <a:srgbClr val="12263F"/>
                </a:solidFill>
                <a:latin typeface="Aptos Display"/>
              </a:defRPr>
            </a:pPr>
            <a:r>
              <a:t>1. Build a baseline</a:t>
            </a:r>
          </a:p>
        </p:txBody>
      </p:sp>
      <p:sp>
        <p:nvSpPr>
          <p:cNvPr id="10" name="TextBox 9"/>
          <p:cNvSpPr txBox="1"/>
          <p:nvPr/>
        </p:nvSpPr>
        <p:spPr>
          <a:xfrm>
            <a:off x="886968" y="2313432"/>
            <a:ext cx="3044952" cy="1207007"/>
          </a:xfrm>
          <a:prstGeom prst="rect">
            <a:avLst/>
          </a:prstGeom>
          <a:noFill/>
        </p:spPr>
        <p:txBody>
          <a:bodyPr wrap="square" lIns="0" rIns="0">
            <a:spAutoFit/>
          </a:bodyPr>
          <a:lstStyle/>
          <a:p>
            <a:pPr>
              <a:spcAft>
                <a:spcPts val="500"/>
              </a:spcAft>
              <a:defRPr sz="1200">
                <a:solidFill>
                  <a:srgbClr val="273443"/>
                </a:solidFill>
                <a:latin typeface="Aptos"/>
              </a:defRPr>
            </a:pPr>
            <a:r>
              <a:t>Calculate typical flow for comparable conditions: same pump state, operating mode and usage window. Store historical samples in PostgreSQL.</a:t>
            </a:r>
          </a:p>
        </p:txBody>
      </p:sp>
      <p:sp>
        <p:nvSpPr>
          <p:cNvPr id="11" name="Rounded Rectangle 10"/>
          <p:cNvSpPr/>
          <p:nvPr/>
        </p:nvSpPr>
        <p:spPr>
          <a:xfrm>
            <a:off x="4370832" y="1783080"/>
            <a:ext cx="3429000" cy="182880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1856231"/>
            <a:ext cx="64008" cy="1682496"/>
          </a:xfrm>
          <a:prstGeom prst="rect">
            <a:avLst/>
          </a:prstGeom>
          <a:solidFill>
            <a:srgbClr val="2AA9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938528"/>
            <a:ext cx="3081528" cy="310896"/>
          </a:xfrm>
          <a:prstGeom prst="rect">
            <a:avLst/>
          </a:prstGeom>
          <a:noFill/>
        </p:spPr>
        <p:txBody>
          <a:bodyPr wrap="none">
            <a:spAutoFit/>
          </a:bodyPr>
          <a:lstStyle/>
          <a:p>
            <a:pPr>
              <a:defRPr sz="1500" b="1">
                <a:solidFill>
                  <a:srgbClr val="12263F"/>
                </a:solidFill>
                <a:latin typeface="Aptos Display"/>
              </a:defRPr>
            </a:pPr>
            <a:r>
              <a:t>2. Compare current flow</a:t>
            </a:r>
          </a:p>
        </p:txBody>
      </p:sp>
      <p:sp>
        <p:nvSpPr>
          <p:cNvPr id="14" name="TextBox 13"/>
          <p:cNvSpPr txBox="1"/>
          <p:nvPr/>
        </p:nvSpPr>
        <p:spPr>
          <a:xfrm>
            <a:off x="4572000" y="2313432"/>
            <a:ext cx="3044952" cy="1207007"/>
          </a:xfrm>
          <a:prstGeom prst="rect">
            <a:avLst/>
          </a:prstGeom>
          <a:noFill/>
        </p:spPr>
        <p:txBody>
          <a:bodyPr wrap="square" lIns="0" rIns="0">
            <a:spAutoFit/>
          </a:bodyPr>
          <a:lstStyle/>
          <a:p>
            <a:pPr>
              <a:spcAft>
                <a:spcPts val="500"/>
              </a:spcAft>
              <a:defRPr sz="1200">
                <a:solidFill>
                  <a:srgbClr val="273443"/>
                </a:solidFill>
                <a:latin typeface="Aptos"/>
              </a:defRPr>
            </a:pPr>
            <a:r>
              <a:t>Drop (%) = (baseline − current flow) / baseline × 100. Example: 4.0 → 2.8 L/min is a 30% decrease.</a:t>
            </a:r>
          </a:p>
        </p:txBody>
      </p:sp>
      <p:sp>
        <p:nvSpPr>
          <p:cNvPr id="15" name="Rounded Rectangle 14"/>
          <p:cNvSpPr/>
          <p:nvPr/>
        </p:nvSpPr>
        <p:spPr>
          <a:xfrm>
            <a:off x="8065008" y="1783080"/>
            <a:ext cx="3429000" cy="182880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65008" y="1856231"/>
            <a:ext cx="64008" cy="1682496"/>
          </a:xfrm>
          <a:prstGeom prst="rect">
            <a:avLst/>
          </a:prstGeom>
          <a:solidFill>
            <a:srgbClr val="DD8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938528"/>
            <a:ext cx="3081528" cy="310896"/>
          </a:xfrm>
          <a:prstGeom prst="rect">
            <a:avLst/>
          </a:prstGeom>
          <a:noFill/>
        </p:spPr>
        <p:txBody>
          <a:bodyPr wrap="none">
            <a:spAutoFit/>
          </a:bodyPr>
          <a:lstStyle/>
          <a:p>
            <a:pPr>
              <a:defRPr sz="1500" b="1">
                <a:solidFill>
                  <a:srgbClr val="12263F"/>
                </a:solidFill>
                <a:latin typeface="Aptos Display"/>
              </a:defRPr>
            </a:pPr>
            <a:r>
              <a:t>3. Avoid false alarms</a:t>
            </a:r>
          </a:p>
        </p:txBody>
      </p:sp>
      <p:sp>
        <p:nvSpPr>
          <p:cNvPr id="18" name="TextBox 17"/>
          <p:cNvSpPr txBox="1"/>
          <p:nvPr/>
        </p:nvSpPr>
        <p:spPr>
          <a:xfrm>
            <a:off x="8266176" y="2313432"/>
            <a:ext cx="3044952" cy="1207007"/>
          </a:xfrm>
          <a:prstGeom prst="rect">
            <a:avLst/>
          </a:prstGeom>
          <a:noFill/>
        </p:spPr>
        <p:txBody>
          <a:bodyPr wrap="square" lIns="0" rIns="0">
            <a:spAutoFit/>
          </a:bodyPr>
          <a:lstStyle/>
          <a:p>
            <a:pPr>
              <a:spcAft>
                <a:spcPts val="500"/>
              </a:spcAft>
              <a:defRPr sz="1200">
                <a:solidFill>
                  <a:srgbClr val="273443"/>
                </a:solidFill>
                <a:latin typeface="Aptos"/>
              </a:defRPr>
            </a:pPr>
            <a:r>
              <a:t>Require a sustained deviation across multiple readings; ignore invalid sensor samples and account for pump state and normal demand changes.</a:t>
            </a:r>
          </a:p>
        </p:txBody>
      </p:sp>
      <p:sp>
        <p:nvSpPr>
          <p:cNvPr id="19" name="Rounded Rectangle 18"/>
          <p:cNvSpPr/>
          <p:nvPr/>
        </p:nvSpPr>
        <p:spPr>
          <a:xfrm>
            <a:off x="868680" y="4160520"/>
            <a:ext cx="2331720" cy="868680"/>
          </a:xfrm>
          <a:prstGeom prst="roundRect">
            <a:avLst/>
          </a:prstGeom>
          <a:solidFill>
            <a:srgbClr val="EDF5FC"/>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Flow anomaly?</a:t>
            </a:r>
          </a:p>
          <a:p>
            <a:pPr algn="ctr">
              <a:defRPr sz="1000">
                <a:solidFill>
                  <a:srgbClr val="273443"/>
                </a:solidFill>
                <a:latin typeface="Aptos"/>
              </a:defRPr>
            </a:pPr>
            <a:r>
              <a:t>Below calibrated baseline</a:t>
            </a:r>
          </a:p>
        </p:txBody>
      </p:sp>
      <p:cxnSp>
        <p:nvCxnSpPr>
          <p:cNvPr id="20" name="Connector 19"/>
          <p:cNvCxnSpPr/>
          <p:nvPr/>
        </p:nvCxnSpPr>
        <p:spPr>
          <a:xfrm>
            <a:off x="3200400" y="4590288"/>
            <a:ext cx="731520" cy="0"/>
          </a:xfrm>
          <a:prstGeom prst="line">
            <a:avLst/>
          </a:prstGeom>
          <a:ln w="25400">
            <a:solidFill>
              <a:srgbClr val="2669B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931920" y="4160520"/>
            <a:ext cx="2331720" cy="868680"/>
          </a:xfrm>
          <a:prstGeom prst="roundRect">
            <a:avLst/>
          </a:prstGeom>
          <a:solidFill>
            <a:srgbClr val="DCF3F8"/>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Persisting?</a:t>
            </a:r>
          </a:p>
          <a:p>
            <a:pPr algn="ctr">
              <a:defRPr sz="1000">
                <a:solidFill>
                  <a:srgbClr val="273443"/>
                </a:solidFill>
                <a:latin typeface="Aptos"/>
              </a:defRPr>
            </a:pPr>
            <a:r>
              <a:t>Multiple consecutive samples</a:t>
            </a:r>
          </a:p>
        </p:txBody>
      </p:sp>
      <p:cxnSp>
        <p:nvCxnSpPr>
          <p:cNvPr id="22" name="Connector 21"/>
          <p:cNvCxnSpPr/>
          <p:nvPr/>
        </p:nvCxnSpPr>
        <p:spPr>
          <a:xfrm>
            <a:off x="6263640" y="4590288"/>
            <a:ext cx="731520" cy="0"/>
          </a:xfrm>
          <a:prstGeom prst="line">
            <a:avLst/>
          </a:prstGeom>
          <a:ln w="25400">
            <a:solidFill>
              <a:srgbClr val="2669B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95160" y="4160520"/>
            <a:ext cx="2331720" cy="868680"/>
          </a:xfrm>
          <a:prstGeom prst="roundRect">
            <a:avLst/>
          </a:prstGeom>
          <a:solidFill>
            <a:srgbClr val="FFEFDB"/>
          </a:solidFill>
          <a:ln>
            <a:solidFill>
              <a:srgbClr val="D3E0ED"/>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defRPr sz="1400" b="1">
                <a:solidFill>
                  <a:srgbClr val="12263F"/>
                </a:solidFill>
                <a:latin typeface="Aptos Display"/>
              </a:defRPr>
            </a:pPr>
            <a:r>
              <a:t>Raise warning</a:t>
            </a:r>
          </a:p>
          <a:p>
            <a:pPr algn="ctr">
              <a:defRPr sz="1000">
                <a:solidFill>
                  <a:srgbClr val="273443"/>
                </a:solidFill>
                <a:latin typeface="Aptos"/>
              </a:defRPr>
            </a:pPr>
            <a:r>
              <a:t>Possible leakage / check pipe</a:t>
            </a:r>
          </a:p>
        </p:txBody>
      </p:sp>
      <p:sp>
        <p:nvSpPr>
          <p:cNvPr id="24" name="Rounded Rectangle 23"/>
          <p:cNvSpPr/>
          <p:nvPr/>
        </p:nvSpPr>
        <p:spPr>
          <a:xfrm>
            <a:off x="9555480" y="4096512"/>
            <a:ext cx="1965960" cy="1051560"/>
          </a:xfrm>
          <a:prstGeom prst="roundRect">
            <a:avLst/>
          </a:prstGeom>
          <a:solidFill>
            <a:srgbClr val="F7FAFD"/>
          </a:solidFill>
          <a:ln>
            <a:solidFill>
              <a:srgbClr val="DD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55480" y="4169664"/>
            <a:ext cx="64008" cy="905255"/>
          </a:xfrm>
          <a:prstGeom prst="rect">
            <a:avLst/>
          </a:prstGeom>
          <a:solidFill>
            <a:srgbClr val="C2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56648" y="4251960"/>
            <a:ext cx="1618488" cy="310896"/>
          </a:xfrm>
          <a:prstGeom prst="rect">
            <a:avLst/>
          </a:prstGeom>
          <a:noFill/>
        </p:spPr>
        <p:txBody>
          <a:bodyPr wrap="none">
            <a:spAutoFit/>
          </a:bodyPr>
          <a:lstStyle/>
          <a:p>
            <a:pPr>
              <a:defRPr sz="1500" b="1">
                <a:solidFill>
                  <a:srgbClr val="12263F"/>
                </a:solidFill>
                <a:latin typeface="Aptos Display"/>
              </a:defRPr>
            </a:pPr>
            <a:r>
              <a:t>Important limit</a:t>
            </a:r>
          </a:p>
        </p:txBody>
      </p:sp>
      <p:sp>
        <p:nvSpPr>
          <p:cNvPr id="27" name="TextBox 26"/>
          <p:cNvSpPr txBox="1"/>
          <p:nvPr/>
        </p:nvSpPr>
        <p:spPr>
          <a:xfrm>
            <a:off x="9756648" y="4626864"/>
            <a:ext cx="1581912" cy="429767"/>
          </a:xfrm>
          <a:prstGeom prst="rect">
            <a:avLst/>
          </a:prstGeom>
          <a:noFill/>
        </p:spPr>
        <p:txBody>
          <a:bodyPr wrap="square" lIns="0" rIns="0">
            <a:spAutoFit/>
          </a:bodyPr>
          <a:lstStyle/>
          <a:p>
            <a:pPr>
              <a:spcAft>
                <a:spcPts val="500"/>
              </a:spcAft>
              <a:defRPr sz="1000">
                <a:solidFill>
                  <a:srgbClr val="273443"/>
                </a:solidFill>
                <a:latin typeface="Aptos"/>
              </a:defRPr>
            </a:pPr>
            <a:r>
              <a:t>Sensor position changes what a flow drop means. Validate with real tests.</a:t>
            </a:r>
          </a:p>
        </p:txBody>
      </p:sp>
      <p:sp>
        <p:nvSpPr>
          <p:cNvPr id="28" name="TextBox 27"/>
          <p:cNvSpPr txBox="1"/>
          <p:nvPr/>
        </p:nvSpPr>
        <p:spPr>
          <a:xfrm>
            <a:off x="731520" y="5650992"/>
            <a:ext cx="10789920" cy="502920"/>
          </a:xfrm>
          <a:prstGeom prst="rect">
            <a:avLst/>
          </a:prstGeom>
          <a:noFill/>
        </p:spPr>
        <p:txBody>
          <a:bodyPr wrap="none">
            <a:spAutoFit/>
          </a:bodyPr>
          <a:lstStyle/>
          <a:p>
            <a:pPr>
              <a:defRPr sz="1100">
                <a:solidFill>
                  <a:srgbClr val="273443"/>
                </a:solidFill>
              </a:defRPr>
            </a:pPr>
            <a:r>
              <a:t>The flow sensor only measures flow at its installation point. A leak upstream may reduce downstream flow, increase total pump flow, or change pressure depending on plumbing and pump characteristics.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Smart Water Tank Monitoring and Management System</dc:title>
  <dc:subject>ESP32, HiveMQ Cloud MQTT, Node.js backend, PostgreSQL and live dashboard</dc:subject>
  <dc:creator>PptxGenJS</dc:creator>
  <cp:lastModifiedBy>PptxGenJS</cp:lastModifiedBy>
  <cp:revision>1</cp:revision>
  <dcterms:created xsi:type="dcterms:W3CDTF">2026-10-18T16:13:41Z</dcterms:created>
  <dcterms:modified xsi:type="dcterms:W3CDTF">2026-10-18T16:13:41Z</dcterms:modified>
  <dc:description>Updated architecture and cloud/backend slides. Dashboard values are explicitly marked as illustrative.</dc:description>
</cp:coreProperties>
</file>